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sldIdLst>
    <p:sldId id="379" r:id="rId2"/>
    <p:sldId id="380" r:id="rId3"/>
    <p:sldId id="381" r:id="rId4"/>
    <p:sldId id="382" r:id="rId5"/>
    <p:sldId id="383" r:id="rId6"/>
    <p:sldId id="384" r:id="rId7"/>
    <p:sldId id="385" r:id="rId8"/>
    <p:sldId id="386" r:id="rId9"/>
    <p:sldId id="387" r:id="rId10"/>
    <p:sldId id="388" r:id="rId11"/>
    <p:sldId id="389" r:id="rId12"/>
    <p:sldId id="390" r:id="rId13"/>
    <p:sldId id="391" r:id="rId14"/>
    <p:sldId id="392" r:id="rId15"/>
    <p:sldId id="393" r:id="rId16"/>
    <p:sldId id="394" r:id="rId17"/>
    <p:sldId id="395" r:id="rId18"/>
    <p:sldId id="378" r:id="rId19"/>
    <p:sldId id="396" r:id="rId20"/>
    <p:sldId id="397" r:id="rId21"/>
    <p:sldId id="3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04"/>
    <p:restoredTop sz="94669"/>
  </p:normalViewPr>
  <p:slideViewPr>
    <p:cSldViewPr snapToGrid="0">
      <p:cViewPr varScale="1">
        <p:scale>
          <a:sx n="71" d="100"/>
          <a:sy n="71" d="100"/>
        </p:scale>
        <p:origin x="192" y="3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E3338-7B45-B94D-873E-3261FA356F51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8384E2-99FE-EC47-A8F4-1597F7098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000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659D0-B13D-AA58-36E7-56D9E8DA3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447BF-8980-89B9-4557-D0EB48D2D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76D91-7F85-40D8-5B0C-5D5A01AC8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68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C1CA5-B789-3C3A-7E93-84CE912DD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8A85A-A369-786D-90DE-37F7B53F6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B74CE-78B7-9443-9BA1-A4FFC1D72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84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FA3FD-1235-6651-76C0-C720BEBE6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F15C4-2C62-F409-8150-46136302A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25169-1764-1B99-01CE-7F3772543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306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6F968-F915-DE79-E6FF-D3CD2EC42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BCF30-03F4-DD04-6501-77C2BC05A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EFB94-BE62-D4C0-22DB-979D664D3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1033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FCCF-5E2A-554B-54F3-94AA9EB94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C3DBCC-333B-BF52-4341-72BC7CE4E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CAE5F-7A92-36CB-C994-D8C2D55C1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7634D-D610-A4CF-64C6-1E39EE0A1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B4CCC-F5AF-3AF3-A69B-18C1DC129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8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A9B94-E3BC-7B57-74BB-DF2CC048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40148-F9E1-5195-67DC-943FBECAD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C09C4-D369-484C-B521-194D6292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20F34-CA4A-2D5D-CC79-E4BF5E99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76ABB-8268-D9C1-B576-C8FF78B5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82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2FB51-A01E-D465-CD6A-E6D1A98BD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1FE41-973E-41FB-DDEA-C02B37A95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A2ED8-2ACF-1B0E-246F-FF6C08B6D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6A5D0-8174-7EB6-5D89-4606A0D6B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CDB86-741A-83ED-526E-FF6AFD8C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454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8BDA5-7FC9-9DCC-CCEE-2EDC332B7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71667-BA88-7AEA-967C-8F328EECBC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1F641-EF90-3B94-1862-7C80BF135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40522-6E6E-1D40-7989-13ED4268E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89871-D751-B0C0-AD97-C9E1FCCDA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A5CC5-D084-4115-4C6B-AEC1330A6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69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B9F25-BD87-40C9-2F4F-22B307B25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299A8-1821-2291-2E58-A997FFBE3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6C131-A77D-79FB-94A6-41951BC6A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53C85A-0D94-01FC-790D-EA9842288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C29727-9861-27BD-2743-C592BC30EB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F61C8B-8977-32C7-BB99-BE063E381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29074A-8769-3FE2-9C9B-B117205F1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D039EC-DE31-A11E-274D-DFDB231B7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53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FA9D-33BC-B92C-3CB5-8FDACF195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FDD72E-9D24-6498-EE78-A0CAB45CF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1977DB-5C29-0D13-64E7-7312E29DB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9CB033-BE9F-902E-2226-0EF4E9877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58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170FDA-9D6F-D8A5-F657-3691FDFA3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E9CC5-07E0-8AA1-D460-69EB01BE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97013-B047-476C-9928-09A4DF037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64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75F2F-CDF0-E6EE-52F1-F445D4D76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DEA75-A1DA-C7AA-EF16-6BD50D1BC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285C4-0B8F-5AAC-0B2E-D5F50A910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669D9-8F05-56A2-4530-6879D899C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BDD9A-5D0B-F678-1F79-94D11E8D0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BB893-8212-51F8-9E88-687044D4A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80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BC6F1-AA53-AB96-1BEB-9499C5A8C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7A1C38-8363-F218-0E69-AB12EE0C3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1AA52-CCCC-A9DB-6276-1EA42196D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C0715-C692-8CDB-5FE6-900FE719D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61FBD-C9ED-8A74-9B26-3CD0BE3E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5FB4A-3183-956C-238F-0B2764A27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58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C5FFC-B837-82AD-2663-2FCD79C67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0C016-6B22-46A1-60DB-737096D5A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B8261-8C07-A4DD-5281-455FB0649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AC4F6-F7BB-51AF-3427-F62E24D26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B10F6-14E5-03D8-1555-E86E454F6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84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26E4E8-F5A0-E1C3-21D4-A144405109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BD8B17-F376-7D31-0046-7F9A7BA1B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6E784-9444-D7A1-2750-22BC6B797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290E5-B39B-83DD-164E-00F37ECCA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88282-8881-1D5C-3477-1178795D7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96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E0873-EBB2-E802-9B58-F8747644B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14FB8-E70D-7F67-A0B0-D88868AE7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19E2F-3588-6CDC-68A9-14F6F0DC64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83EA6-BA09-6193-C30B-1AF9F72E1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D49A5-38DB-9155-6062-157469CFF4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769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1A1A1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B2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B2B2B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B2B2B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B2B2B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B2B2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B2B2B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B2B2B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B2B2B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B2B2B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Kisz.test@gmail.co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49A7D-DA2E-24B3-118C-070F633D2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651000"/>
            <a:ext cx="10160000" cy="1016000"/>
          </a:xfrm>
        </p:spPr>
        <p:txBody>
          <a:bodyPr/>
          <a:lstStyle/>
          <a:p>
            <a:pPr algn="l"/>
            <a:r>
              <a:rPr lang="en-US" sz="4000" b="1" dirty="0">
                <a:solidFill>
                  <a:srgbClr val="1A1A1A"/>
                </a:solidFill>
              </a:rPr>
              <a:t>Welche Tools darf Ihr KI-Agent nutzen?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4F19EE-6AFC-F380-A6C1-9385CA9CE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819400"/>
            <a:ext cx="10160000" cy="508000"/>
          </a:xfrm>
        </p:spPr>
        <p:txBody>
          <a:bodyPr/>
          <a:lstStyle/>
          <a:p>
            <a:pPr algn="l">
              <a:buNone/>
            </a:pPr>
            <a:r>
              <a:rPr lang="en-US" sz="2200" dirty="0">
                <a:solidFill>
                  <a:srgbClr val="B1063A"/>
                </a:solidFill>
              </a:rPr>
              <a:t>MCP in der Praxis: Use Cases finden und Server sicher prüfen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181191-4FAE-3345-C582-04D6BEB15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298" y="183584"/>
            <a:ext cx="2592088" cy="7762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5F4141-6641-3C46-A17A-440F7D53BF68}"/>
              </a:ext>
            </a:extLst>
          </p:cNvPr>
          <p:cNvSpPr/>
          <p:nvPr/>
        </p:nvSpPr>
        <p:spPr>
          <a:xfrm>
            <a:off x="762000" y="3683000"/>
            <a:ext cx="1524000" cy="38100"/>
          </a:xfrm>
          <a:prstGeom prst="rect">
            <a:avLst/>
          </a:prstGeom>
          <a:solidFill>
            <a:srgbClr val="B106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PresenterLine">
            <a:extLst>
              <a:ext uri="{FF2B5EF4-FFF2-40B4-BE49-F238E27FC236}">
                <a16:creationId xmlns:a16="http://schemas.microsoft.com/office/drawing/2014/main" id="{EF794C45-4BCF-2043-88A9-59448D21C0C7}"/>
              </a:ext>
            </a:extLst>
          </p:cNvPr>
          <p:cNvSpPr txBox="1"/>
          <p:nvPr/>
        </p:nvSpPr>
        <p:spPr>
          <a:xfrm>
            <a:off x="762000" y="4191000"/>
            <a:ext cx="10160000" cy="9079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600" dirty="0">
                <a:solidFill>
                  <a:srgbClr val="3C3C3C"/>
                </a:solidFill>
              </a:rPr>
              <a:t>Jill </a:t>
            </a:r>
            <a:r>
              <a:rPr lang="en-US" sz="1600" dirty="0" err="1">
                <a:solidFill>
                  <a:srgbClr val="3C3C3C"/>
                </a:solidFill>
              </a:rPr>
              <a:t>Barvencik</a:t>
            </a:r>
            <a:r>
              <a:rPr lang="en-US" sz="1600" dirty="0">
                <a:solidFill>
                  <a:srgbClr val="3C3C3C"/>
                </a:solidFill>
              </a:rPr>
              <a:t> · David Goll</a:t>
            </a:r>
          </a:p>
          <a:p>
            <a:r>
              <a:rPr lang="en-US" sz="1600" dirty="0">
                <a:solidFill>
                  <a:srgbClr val="3C3C3C"/>
                </a:solidFill>
              </a:rPr>
              <a:t>KI-</a:t>
            </a:r>
            <a:r>
              <a:rPr lang="en-US" sz="1600" dirty="0" err="1">
                <a:solidFill>
                  <a:srgbClr val="3C3C3C"/>
                </a:solidFill>
              </a:rPr>
              <a:t>Servicezentrum</a:t>
            </a:r>
            <a:r>
              <a:rPr lang="en-US" sz="1600" dirty="0">
                <a:solidFill>
                  <a:srgbClr val="3C3C3C"/>
                </a:solidFill>
              </a:rPr>
              <a:t> Berlin-Brandenburg (HPI)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C3C3C"/>
                </a:solidFill>
              </a:rPr>
              <a:t>09.09.2026</a:t>
            </a:r>
          </a:p>
        </p:txBody>
      </p:sp>
      <p:sp>
        <p:nvSpPr>
          <p:cNvPr id="7" name="AgendaStrip">
            <a:extLst>
              <a:ext uri="{FF2B5EF4-FFF2-40B4-BE49-F238E27FC236}">
                <a16:creationId xmlns:a16="http://schemas.microsoft.com/office/drawing/2014/main" id="{123EE853-FCB8-2F4A-9934-3FEE7D83AE61}"/>
              </a:ext>
            </a:extLst>
          </p:cNvPr>
          <p:cNvSpPr txBox="1"/>
          <p:nvPr/>
        </p:nvSpPr>
        <p:spPr>
          <a:xfrm>
            <a:off x="762000" y="5588000"/>
            <a:ext cx="1016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500" b="1" dirty="0">
                <a:solidFill>
                  <a:srgbClr val="6E6E6E"/>
                </a:solidFill>
              </a:rPr>
              <a:t>20 Min. Konzepte  →  10 Min. Beispiel  →  20 Min. Ihr eigener Use Case  →  10 Min. Diskussion</a:t>
            </a:r>
          </a:p>
        </p:txBody>
      </p:sp>
    </p:spTree>
    <p:extLst>
      <p:ext uri="{BB962C8B-B14F-4D97-AF65-F5344CB8AC3E}">
        <p14:creationId xmlns:p14="http://schemas.microsoft.com/office/powerpoint/2010/main" val="887183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8077E-A6B4-4895-F948-BFC1F5B18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69131-088F-5CE2-2967-8AD4CF0E9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Was ist ein Agent?</a:t>
            </a:r>
          </a:p>
        </p:txBody>
      </p:sp>
      <p:sp>
        <p:nvSpPr>
          <p:cNvPr id="100" name="Rule">
            <a:extLst>
              <a:ext uri="{FF2B5EF4-FFF2-40B4-BE49-F238E27FC236}">
                <a16:creationId xmlns:a16="http://schemas.microsoft.com/office/drawing/2014/main" id="{6B1EAADA-85FC-4B80-FDFC-4B6CD34F546F}"/>
              </a:ext>
            </a:extLst>
          </p:cNvPr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4A56C50-B943-84F7-1776-219A92AB22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460500"/>
            <a:ext cx="4953000" cy="40005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97A6818-C07E-2E21-A35C-4F440872F4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2" y="1460500"/>
            <a:ext cx="4953000" cy="4000500"/>
          </a:xfrm>
          <a:prstGeom prst="rect">
            <a:avLst/>
          </a:prstGeom>
        </p:spPr>
      </p:pic>
      <p:sp>
        <p:nvSpPr>
          <p:cNvPr id="9" name="Quote">
            <a:extLst>
              <a:ext uri="{FF2B5EF4-FFF2-40B4-BE49-F238E27FC236}">
                <a16:creationId xmlns:a16="http://schemas.microsoft.com/office/drawing/2014/main" id="{A9D09BC1-AC31-5289-BC97-2BCFE1EC49BB}"/>
              </a:ext>
            </a:extLst>
          </p:cNvPr>
          <p:cNvSpPr txBox="1"/>
          <p:nvPr/>
        </p:nvSpPr>
        <p:spPr>
          <a:xfrm>
            <a:off x="761998" y="5461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600" i="1" dirty="0">
                <a:solidFill>
                  <a:srgbClr val="3C3C3C"/>
                </a:solidFill>
              </a:rPr>
              <a:t>„Ein LLM-Agent führt Tools in einer Schleife aus, um ein Ziel zu erreichen.“</a:t>
            </a:r>
            <a:r>
              <a:rPr lang="en-US" sz="1400" dirty="0">
                <a:solidFill>
                  <a:srgbClr val="6E6E6E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62044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7E57C-52EB-2D98-65B4-D6C92A127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A5F86-A2C8-A47B-86F3-76CAB2D17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Drei Sorten von “AI Agents” (LLM) </a:t>
            </a:r>
          </a:p>
        </p:txBody>
      </p:sp>
      <p:sp>
        <p:nvSpPr>
          <p:cNvPr id="100" name="Rule">
            <a:extLst>
              <a:ext uri="{FF2B5EF4-FFF2-40B4-BE49-F238E27FC236}">
                <a16:creationId xmlns:a16="http://schemas.microsoft.com/office/drawing/2014/main" id="{895632D3-B62B-D3D2-660A-C0B6B159DAF2}"/>
              </a:ext>
            </a:extLst>
          </p:cNvPr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E24533-6CBB-A5F4-B26A-3EA2431CE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65" y="1358900"/>
            <a:ext cx="10551270" cy="534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835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9338E-482A-D407-320B-CFE0D8D2A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 err="1">
                <a:solidFill>
                  <a:srgbClr val="B1063A"/>
                </a:solidFill>
              </a:rPr>
              <a:t>Beispiel</a:t>
            </a:r>
            <a:r>
              <a:rPr lang="en-US" sz="3000" b="1" dirty="0">
                <a:solidFill>
                  <a:srgbClr val="B1063A"/>
                </a:solidFill>
              </a:rPr>
              <a:t>: Email KI-</a:t>
            </a:r>
            <a:r>
              <a:rPr lang="en-US" sz="3000" b="1" dirty="0" err="1">
                <a:solidFill>
                  <a:srgbClr val="B1063A"/>
                </a:solidFill>
              </a:rPr>
              <a:t>Assistent</a:t>
            </a:r>
            <a:endParaRPr lang="en-US" sz="3000" b="1" dirty="0">
              <a:solidFill>
                <a:srgbClr val="B1063A"/>
              </a:solidFill>
            </a:endParaRP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1" name="Mail"/>
          <p:cNvSpPr txBox="1"/>
          <p:nvPr/>
        </p:nvSpPr>
        <p:spPr>
          <a:xfrm>
            <a:off x="762000" y="2794000"/>
            <a:ext cx="16510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3C3C3C"/>
                </a:solidFill>
              </a:rPr>
              <a:t>Neue E-Mail</a:t>
            </a:r>
          </a:p>
          <a:p>
            <a:pPr algn="ctr">
              <a:buNone/>
            </a:pPr>
            <a:r>
              <a:rPr lang="en-US" sz="1200" dirty="0">
                <a:solidFill>
                  <a:srgbClr val="6E6E6E"/>
                </a:solidFill>
              </a:rPr>
              <a:t>info@-Postfach</a:t>
            </a:r>
          </a:p>
        </p:txBody>
      </p:sp>
      <p:cxnSp>
        <p:nvCxnSpPr>
          <p:cNvPr id="102" name="Arrow 102"/>
          <p:cNvCxnSpPr/>
          <p:nvPr/>
        </p:nvCxnSpPr>
        <p:spPr>
          <a:xfrm>
            <a:off x="2413000" y="3238500"/>
            <a:ext cx="457200" cy="0"/>
          </a:xfrm>
          <a:prstGeom prst="straightConnector1">
            <a:avLst/>
          </a:prstGeom>
          <a:ln w="19050">
            <a:solidFill>
              <a:srgbClr val="6E6E6E"/>
            </a:solidFill>
            <a:tailEnd type="triangle"/>
          </a:ln>
        </p:spPr>
      </p:cxnSp>
      <p:sp>
        <p:nvSpPr>
          <p:cNvPr id="103" name="Model"/>
          <p:cNvSpPr txBox="1"/>
          <p:nvPr/>
        </p:nvSpPr>
        <p:spPr>
          <a:xfrm>
            <a:off x="2870200" y="2794000"/>
            <a:ext cx="1905000" cy="889000"/>
          </a:xfrm>
          <a:prstGeom prst="roundRect">
            <a:avLst/>
          </a:prstGeom>
          <a:solidFill>
            <a:srgbClr val="1F5FA9"/>
          </a:solidFill>
          <a:ln w="12700">
            <a:solidFill>
              <a:srgbClr val="1F5FA9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Das Model liest sie</a:t>
            </a:r>
          </a:p>
          <a:p>
            <a:pPr algn="ctr">
              <a:buNone/>
            </a:pPr>
            <a:r>
              <a:rPr lang="en-US" sz="1200" dirty="0">
                <a:solidFill>
                  <a:srgbClr val="DCE6F5"/>
                </a:solidFill>
              </a:rPr>
              <a:t>entscheidet pro Mail</a:t>
            </a:r>
          </a:p>
        </p:txBody>
      </p:sp>
      <p:cxnSp>
        <p:nvCxnSpPr>
          <p:cNvPr id="104" name="Arrow 104"/>
          <p:cNvCxnSpPr/>
          <p:nvPr/>
        </p:nvCxnSpPr>
        <p:spPr>
          <a:xfrm flipV="1">
            <a:off x="4775200" y="2159000"/>
            <a:ext cx="558800" cy="889000"/>
          </a:xfrm>
          <a:prstGeom prst="straightConnector1">
            <a:avLst/>
          </a:prstGeom>
          <a:ln w="19050">
            <a:solidFill>
              <a:srgbClr val="1F5FA9"/>
            </a:solidFill>
            <a:tailEnd type="triangle"/>
          </a:ln>
        </p:spPr>
      </p:cxnSp>
      <p:cxnSp>
        <p:nvCxnSpPr>
          <p:cNvPr id="105" name="Arrow 105"/>
          <p:cNvCxnSpPr/>
          <p:nvPr/>
        </p:nvCxnSpPr>
        <p:spPr>
          <a:xfrm>
            <a:off x="4775200" y="3429000"/>
            <a:ext cx="558800" cy="635000"/>
          </a:xfrm>
          <a:prstGeom prst="straightConnector1">
            <a:avLst/>
          </a:prstGeom>
          <a:ln w="19050">
            <a:solidFill>
              <a:srgbClr val="1F5FA9"/>
            </a:solidFill>
            <a:tailEnd type="triangle"/>
          </a:ln>
        </p:spPr>
      </p:cxnSp>
      <p:sp>
        <p:nvSpPr>
          <p:cNvPr id="106" name="FAQ"/>
          <p:cNvSpPr txBox="1"/>
          <p:nvPr/>
        </p:nvSpPr>
        <p:spPr>
          <a:xfrm>
            <a:off x="5334000" y="1778000"/>
            <a:ext cx="19050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3C3C3C"/>
                </a:solidFill>
              </a:rPr>
              <a:t>FAQ (</a:t>
            </a:r>
            <a:r>
              <a:rPr lang="en-US" sz="1500" b="1" dirty="0" err="1">
                <a:solidFill>
                  <a:srgbClr val="3C3C3C"/>
                </a:solidFill>
              </a:rPr>
              <a:t>Datenbank</a:t>
            </a:r>
            <a:r>
              <a:rPr lang="en-US" sz="1500" b="1" dirty="0">
                <a:solidFill>
                  <a:srgbClr val="3C3C3C"/>
                </a:solidFill>
              </a:rPr>
              <a:t>) </a:t>
            </a:r>
          </a:p>
          <a:p>
            <a:pPr algn="ctr">
              <a:buNone/>
            </a:pPr>
            <a:r>
              <a:rPr lang="en-US" sz="1200" dirty="0">
                <a:solidFill>
                  <a:srgbClr val="6E6E6E"/>
                </a:solidFill>
              </a:rPr>
              <a:t>ein Tool, das es aufrufen kann</a:t>
            </a:r>
          </a:p>
        </p:txBody>
      </p:sp>
      <p:sp>
        <p:nvSpPr>
          <p:cNvPr id="107" name="Cal"/>
          <p:cNvSpPr txBox="1"/>
          <p:nvPr/>
        </p:nvSpPr>
        <p:spPr>
          <a:xfrm>
            <a:off x="5334000" y="3683000"/>
            <a:ext cx="19050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3C3C3C"/>
                </a:solidFill>
              </a:rPr>
              <a:t>Kalender</a:t>
            </a:r>
          </a:p>
          <a:p>
            <a:pPr algn="ctr">
              <a:buNone/>
            </a:pPr>
            <a:r>
              <a:rPr lang="en-US" sz="1200" dirty="0">
                <a:solidFill>
                  <a:srgbClr val="6E6E6E"/>
                </a:solidFill>
              </a:rPr>
              <a:t>ein Tool, das es aufrufen kann</a:t>
            </a:r>
          </a:p>
        </p:txBody>
      </p:sp>
      <p:cxnSp>
        <p:nvCxnSpPr>
          <p:cNvPr id="108" name="Arrow 108"/>
          <p:cNvCxnSpPr/>
          <p:nvPr/>
        </p:nvCxnSpPr>
        <p:spPr>
          <a:xfrm>
            <a:off x="7239000" y="2159000"/>
            <a:ext cx="558800" cy="889000"/>
          </a:xfrm>
          <a:prstGeom prst="straightConnector1">
            <a:avLst/>
          </a:prstGeom>
          <a:ln w="19050">
            <a:solidFill>
              <a:srgbClr val="1F5FA9"/>
            </a:solidFill>
            <a:tailEnd type="triangle"/>
          </a:ln>
        </p:spPr>
      </p:cxnSp>
      <p:cxnSp>
        <p:nvCxnSpPr>
          <p:cNvPr id="109" name="Arrow 109"/>
          <p:cNvCxnSpPr/>
          <p:nvPr/>
        </p:nvCxnSpPr>
        <p:spPr>
          <a:xfrm flipV="1">
            <a:off x="7239000" y="3429000"/>
            <a:ext cx="558800" cy="635000"/>
          </a:xfrm>
          <a:prstGeom prst="straightConnector1">
            <a:avLst/>
          </a:prstGeom>
          <a:ln w="19050">
            <a:solidFill>
              <a:srgbClr val="1F5FA9"/>
            </a:solidFill>
            <a:tailEnd type="triangle"/>
          </a:ln>
        </p:spPr>
      </p:cxnSp>
      <p:sp>
        <p:nvSpPr>
          <p:cNvPr id="110" name="Draft"/>
          <p:cNvSpPr txBox="1"/>
          <p:nvPr/>
        </p:nvSpPr>
        <p:spPr>
          <a:xfrm>
            <a:off x="7797800" y="2794000"/>
            <a:ext cx="16510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3C3C3C"/>
                </a:solidFill>
              </a:rPr>
              <a:t>Entwirft eine Antwort</a:t>
            </a:r>
          </a:p>
          <a:p>
            <a:pPr algn="ctr">
              <a:buNone/>
            </a:pPr>
            <a:r>
              <a:rPr lang="en-US" sz="1200" dirty="0">
                <a:solidFill>
                  <a:srgbClr val="6E6E6E"/>
                </a:solidFill>
              </a:rPr>
              <a:t>sendet nie selbst</a:t>
            </a:r>
          </a:p>
        </p:txBody>
      </p:sp>
      <p:cxnSp>
        <p:nvCxnSpPr>
          <p:cNvPr id="111" name="Arrow 111"/>
          <p:cNvCxnSpPr/>
          <p:nvPr/>
        </p:nvCxnSpPr>
        <p:spPr>
          <a:xfrm>
            <a:off x="9448800" y="3238500"/>
            <a:ext cx="457200" cy="0"/>
          </a:xfrm>
          <a:prstGeom prst="straightConnector1">
            <a:avLst/>
          </a:prstGeom>
          <a:ln w="19050">
            <a:solidFill>
              <a:srgbClr val="6E6E6E"/>
            </a:solidFill>
            <a:tailEnd type="triangle"/>
          </a:ln>
        </p:spPr>
      </p:cxnSp>
      <p:sp>
        <p:nvSpPr>
          <p:cNvPr id="112" name="Human"/>
          <p:cNvSpPr txBox="1"/>
          <p:nvPr/>
        </p:nvSpPr>
        <p:spPr>
          <a:xfrm>
            <a:off x="9906000" y="2794000"/>
            <a:ext cx="1524000" cy="889000"/>
          </a:xfrm>
          <a:prstGeom prst="roundRect">
            <a:avLst/>
          </a:prstGeom>
          <a:solidFill>
            <a:srgbClr val="FBE9EF"/>
          </a:solidFill>
          <a:ln w="12700">
            <a:solidFill>
              <a:srgbClr val="B1063A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B1063A"/>
                </a:solidFill>
              </a:rPr>
              <a:t>Ein Mensch prüft &amp; sendet</a:t>
            </a:r>
          </a:p>
        </p:txBody>
      </p:sp>
      <p:sp>
        <p:nvSpPr>
          <p:cNvPr id="113" name="or"/>
          <p:cNvSpPr txBox="1"/>
          <p:nvPr/>
        </p:nvSpPr>
        <p:spPr>
          <a:xfrm>
            <a:off x="5232400" y="2892898"/>
            <a:ext cx="1835285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200" dirty="0">
                <a:solidFill>
                  <a:srgbClr val="1F5FA9"/>
                </a:solidFill>
              </a:rPr>
              <a:t>tool call loop</a:t>
            </a:r>
          </a:p>
        </p:txBody>
      </p:sp>
      <p:sp>
        <p:nvSpPr>
          <p:cNvPr id="114" name="Headline"/>
          <p:cNvSpPr txBox="1"/>
          <p:nvPr/>
        </p:nvSpPr>
        <p:spPr>
          <a:xfrm>
            <a:off x="762000" y="5334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  <a:sym typeface="Wingdings" pitchFamily="2" charset="2"/>
              </a:rPr>
              <a:t> </a:t>
            </a:r>
            <a:r>
              <a:rPr lang="en-US" sz="1800" b="1" dirty="0" err="1">
                <a:solidFill>
                  <a:srgbClr val="1A1A1A"/>
                </a:solidFill>
              </a:rPr>
              <a:t>Kategorie</a:t>
            </a:r>
            <a:r>
              <a:rPr lang="en-US" sz="1800" b="1" dirty="0">
                <a:solidFill>
                  <a:srgbClr val="1A1A1A"/>
                </a:solidFill>
              </a:rPr>
              <a:t> 1 </a:t>
            </a:r>
            <a:r>
              <a:rPr lang="en-US" sz="1800" b="1" dirty="0" err="1">
                <a:solidFill>
                  <a:srgbClr val="1A1A1A"/>
                </a:solidFill>
              </a:rPr>
              <a:t>oder</a:t>
            </a:r>
            <a:r>
              <a:rPr lang="en-US" sz="1800" b="1" dirty="0">
                <a:solidFill>
                  <a:srgbClr val="1A1A1A"/>
                </a:solidFill>
              </a:rPr>
              <a:t> 3</a:t>
            </a:r>
          </a:p>
          <a:p>
            <a:pPr>
              <a:buNone/>
            </a:pPr>
            <a:r>
              <a:rPr lang="en-US" dirty="0">
                <a:solidFill>
                  <a:srgbClr val="1A1A1A"/>
                </a:solidFill>
              </a:rPr>
              <a:t>(Je </a:t>
            </a:r>
            <a:r>
              <a:rPr lang="en-US" dirty="0" err="1">
                <a:solidFill>
                  <a:srgbClr val="1A1A1A"/>
                </a:solidFill>
              </a:rPr>
              <a:t>nachdem</a:t>
            </a:r>
            <a:r>
              <a:rPr lang="en-US" dirty="0">
                <a:solidFill>
                  <a:srgbClr val="1A1A1A"/>
                </a:solidFill>
              </a:rPr>
              <a:t>, </a:t>
            </a:r>
            <a:r>
              <a:rPr lang="en-US" dirty="0" err="1">
                <a:solidFill>
                  <a:srgbClr val="1A1A1A"/>
                </a:solidFill>
              </a:rPr>
              <a:t>wie</a:t>
            </a:r>
            <a:r>
              <a:rPr lang="en-US" dirty="0">
                <a:solidFill>
                  <a:srgbClr val="1A1A1A"/>
                </a:solidFill>
              </a:rPr>
              <a:t> </a:t>
            </a:r>
            <a:r>
              <a:rPr lang="en-US" dirty="0" err="1">
                <a:solidFill>
                  <a:srgbClr val="1A1A1A"/>
                </a:solidFill>
              </a:rPr>
              <a:t>viel</a:t>
            </a:r>
            <a:r>
              <a:rPr lang="en-US" dirty="0">
                <a:solidFill>
                  <a:srgbClr val="1A1A1A"/>
                </a:solidFill>
              </a:rPr>
              <a:t> </a:t>
            </a:r>
            <a:r>
              <a:rPr lang="en-US" dirty="0" err="1">
                <a:solidFill>
                  <a:srgbClr val="1A1A1A"/>
                </a:solidFill>
              </a:rPr>
              <a:t>Entscheidungsmacht</a:t>
            </a:r>
            <a:r>
              <a:rPr lang="en-US" dirty="0">
                <a:solidFill>
                  <a:srgbClr val="1A1A1A"/>
                </a:solidFill>
              </a:rPr>
              <a:t> dem Modell </a:t>
            </a:r>
            <a:r>
              <a:rPr lang="en-US" dirty="0" err="1">
                <a:solidFill>
                  <a:srgbClr val="1A1A1A"/>
                </a:solidFill>
              </a:rPr>
              <a:t>überlassen</a:t>
            </a:r>
            <a:r>
              <a:rPr lang="en-US" dirty="0">
                <a:solidFill>
                  <a:srgbClr val="1A1A1A"/>
                </a:solidFill>
              </a:rPr>
              <a:t> </a:t>
            </a:r>
            <a:r>
              <a:rPr lang="en-US" dirty="0" err="1">
                <a:solidFill>
                  <a:srgbClr val="1A1A1A"/>
                </a:solidFill>
              </a:rPr>
              <a:t>wird</a:t>
            </a:r>
            <a:r>
              <a:rPr lang="en-US" dirty="0">
                <a:solidFill>
                  <a:srgbClr val="1A1A1A"/>
                </a:solidFill>
              </a:rPr>
              <a:t>)</a:t>
            </a:r>
            <a:r>
              <a:rPr lang="en-US" sz="1800" dirty="0">
                <a:solidFill>
                  <a:srgbClr val="1A1A1A"/>
                </a:solidFill>
              </a:rPr>
              <a:t> </a:t>
            </a:r>
          </a:p>
        </p:txBody>
      </p:sp>
      <p:sp>
        <p:nvSpPr>
          <p:cNvPr id="3" name="Curved Left Arrow 2">
            <a:extLst>
              <a:ext uri="{FF2B5EF4-FFF2-40B4-BE49-F238E27FC236}">
                <a16:creationId xmlns:a16="http://schemas.microsoft.com/office/drawing/2014/main" id="{0F476C2C-DC8E-D995-9793-F512E9422423}"/>
              </a:ext>
            </a:extLst>
          </p:cNvPr>
          <p:cNvSpPr/>
          <p:nvPr/>
        </p:nvSpPr>
        <p:spPr>
          <a:xfrm rot="16200000">
            <a:off x="5995210" y="1874466"/>
            <a:ext cx="379379" cy="1904999"/>
          </a:xfrm>
          <a:prstGeom prst="curvedLef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Curved Left Arrow 3">
            <a:extLst>
              <a:ext uri="{FF2B5EF4-FFF2-40B4-BE49-F238E27FC236}">
                <a16:creationId xmlns:a16="http://schemas.microsoft.com/office/drawing/2014/main" id="{AA119DD0-B802-517B-DAA8-074EFD66E695}"/>
              </a:ext>
            </a:extLst>
          </p:cNvPr>
          <p:cNvSpPr/>
          <p:nvPr/>
        </p:nvSpPr>
        <p:spPr>
          <a:xfrm rot="5400000">
            <a:off x="5969811" y="2487309"/>
            <a:ext cx="379379" cy="1904999"/>
          </a:xfrm>
          <a:prstGeom prst="curvedLef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747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77952-AF08-7CCF-3474-C2FDCECD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5561C-B888-CF45-A125-E5664BE2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Model Context Protocol (MCP)</a:t>
            </a:r>
          </a:p>
        </p:txBody>
      </p:sp>
      <p:sp>
        <p:nvSpPr>
          <p:cNvPr id="100" name="Rule">
            <a:extLst>
              <a:ext uri="{FF2B5EF4-FFF2-40B4-BE49-F238E27FC236}">
                <a16:creationId xmlns:a16="http://schemas.microsoft.com/office/drawing/2014/main" id="{FF6F8F74-4F6F-C36F-7E85-E79EC36F6079}"/>
              </a:ext>
            </a:extLst>
          </p:cNvPr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526608E-7DEA-ADB8-4E69-9AC413E8BB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991198"/>
            <a:ext cx="10667999" cy="44805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E502C6-BC76-2FEF-66DA-0CDCF4EDEF02}"/>
              </a:ext>
            </a:extLst>
          </p:cNvPr>
          <p:cNvSpPr txBox="1"/>
          <p:nvPr/>
        </p:nvSpPr>
        <p:spPr>
          <a:xfrm>
            <a:off x="762000" y="1507566"/>
            <a:ext cx="10668000" cy="3048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de-DE" sz="1600" dirty="0">
                <a:solidFill>
                  <a:srgbClr val="3C3C3C"/>
                </a:solidFill>
              </a:rPr>
              <a:t>MCP ist ein Open-Source-Standard, um KI-Anwendungen mit externen Systemen zu verbinden.</a:t>
            </a:r>
          </a:p>
          <a:p>
            <a:pPr>
              <a:buNone/>
            </a:pPr>
            <a:r>
              <a:rPr lang="de-DE" sz="1600" b="1" dirty="0">
                <a:solidFill>
                  <a:srgbClr val="1A1A1A"/>
                </a:solidFill>
              </a:rPr>
              <a:t>„USB-C-Anschluss für KI-Anwendungen“.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F98EED-DCE5-A850-3DFB-36A914E276A7}"/>
              </a:ext>
            </a:extLst>
          </p:cNvPr>
          <p:cNvSpPr txBox="1"/>
          <p:nvPr/>
        </p:nvSpPr>
        <p:spPr>
          <a:xfrm>
            <a:off x="8356060" y="4950569"/>
            <a:ext cx="10294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JSON-RPC 2.0</a:t>
            </a:r>
          </a:p>
        </p:txBody>
      </p:sp>
    </p:spTree>
    <p:extLst>
      <p:ext uri="{BB962C8B-B14F-4D97-AF65-F5344CB8AC3E}">
        <p14:creationId xmlns:p14="http://schemas.microsoft.com/office/powerpoint/2010/main" val="2076181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1B0C6ED-1CC8-70E0-0A23-08730B41CE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3803" y="812800"/>
            <a:ext cx="9586686" cy="40264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6049DD-E67C-3C9D-31B1-29A68BC37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Wie MCP funktioniert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graphicFrame>
        <p:nvGraphicFramePr>
          <p:cNvPr id="112" name="Table 112"/>
          <p:cNvGraphicFramePr>
            <a:graphicFrameLocks noGrp="1"/>
          </p:cNvGraphicFramePr>
          <p:nvPr/>
        </p:nvGraphicFramePr>
        <p:xfrm>
          <a:off x="762000" y="4839208"/>
          <a:ext cx="10668000" cy="1828800"/>
        </p:xfrm>
        <a:graphic>
          <a:graphicData uri="http://schemas.openxmlformats.org/drawingml/2006/table">
            <a:tbl>
              <a:tblPr/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Baustein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Was der Server anbietet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Beispiel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Resources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Daten, die es lesen kann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Dateien, </a:t>
                      </a:r>
                      <a:r>
                        <a:rPr lang="en-US" sz="1400" dirty="0" err="1">
                          <a:solidFill>
                            <a:srgbClr val="2B2B2B"/>
                          </a:solidFill>
                        </a:rPr>
                        <a:t>Datenbanken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, …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Tools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Actions, die das Model aufrufen kann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 err="1">
                          <a:solidFill>
                            <a:srgbClr val="2B2B2B"/>
                          </a:solidFill>
                          <a:latin typeface="Consolas"/>
                        </a:rPr>
                        <a:t>get_local_weather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Consolas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2B2B2B"/>
                          </a:solidFill>
                          <a:latin typeface="Consolas"/>
                        </a:rPr>
                        <a:t>draft_email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Consolas"/>
                        </a:rPr>
                        <a:t>, …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Prompts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vorgefertigte Abläufe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„dieses Ticket </a:t>
                      </a:r>
                      <a:r>
                        <a:rPr lang="en-US" sz="1400" dirty="0" err="1">
                          <a:solidFill>
                            <a:srgbClr val="2B2B2B"/>
                          </a:solidFill>
                        </a:rPr>
                        <a:t>zusammenfassen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 &amp; einordnen“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654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6AB18-B9BF-5AE2-FAE0-AED734DD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Wie </a:t>
            </a:r>
            <a:r>
              <a:rPr lang="en-US" sz="3000" b="1" dirty="0" err="1">
                <a:solidFill>
                  <a:srgbClr val="B1063A"/>
                </a:solidFill>
              </a:rPr>
              <a:t>wählt</a:t>
            </a:r>
            <a:r>
              <a:rPr lang="en-US" sz="3000" b="1" dirty="0">
                <a:solidFill>
                  <a:srgbClr val="B1063A"/>
                </a:solidFill>
              </a:rPr>
              <a:t> das Model </a:t>
            </a:r>
            <a:r>
              <a:rPr lang="en-US" sz="3000" b="1" dirty="0" err="1">
                <a:solidFill>
                  <a:srgbClr val="B1063A"/>
                </a:solidFill>
              </a:rPr>
              <a:t>ein</a:t>
            </a:r>
            <a:r>
              <a:rPr lang="en-US" sz="3000" b="1" dirty="0">
                <a:solidFill>
                  <a:srgbClr val="B1063A"/>
                </a:solidFill>
              </a:rPr>
              <a:t> tool </a:t>
            </a:r>
            <a:r>
              <a:rPr lang="en-US" sz="3000" b="1" dirty="0" err="1">
                <a:solidFill>
                  <a:srgbClr val="B1063A"/>
                </a:solidFill>
              </a:rPr>
              <a:t>aus</a:t>
            </a:r>
            <a:r>
              <a:rPr lang="en-US" sz="3000" b="1" dirty="0">
                <a:solidFill>
                  <a:srgbClr val="B1063A"/>
                </a:solidFill>
              </a:rPr>
              <a:t>?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1" name="Card"/>
          <p:cNvSpPr txBox="1"/>
          <p:nvPr/>
        </p:nvSpPr>
        <p:spPr>
          <a:xfrm>
            <a:off x="654996" y="2070100"/>
            <a:ext cx="10668000" cy="223520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2" name="Code"/>
          <p:cNvSpPr txBox="1"/>
          <p:nvPr/>
        </p:nvSpPr>
        <p:spPr>
          <a:xfrm>
            <a:off x="883596" y="2298700"/>
            <a:ext cx="10160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500" dirty="0">
                <a:solidFill>
                  <a:srgbClr val="8FB4E8"/>
                </a:solidFill>
                <a:latin typeface="Consolas"/>
              </a:rPr>
              <a:t>name:        </a:t>
            </a:r>
            <a:r>
              <a:rPr lang="en-US" sz="1500" dirty="0">
                <a:solidFill>
                  <a:srgbClr val="E8E8E8"/>
                </a:solidFill>
                <a:latin typeface="Consolas"/>
              </a:rPr>
              <a:t>get_forecast</a:t>
            </a:r>
          </a:p>
          <a:p>
            <a:pPr>
              <a:spcBef>
                <a:spcPts val="400"/>
              </a:spcBef>
              <a:buNone/>
            </a:pPr>
            <a:r>
              <a:rPr lang="en-US" sz="1500" dirty="0">
                <a:solidFill>
                  <a:srgbClr val="8FB4E8"/>
                </a:solidFill>
                <a:latin typeface="Consolas"/>
              </a:rPr>
              <a:t>description: </a:t>
            </a:r>
            <a:r>
              <a:rPr lang="en-US" sz="1500" dirty="0">
                <a:solidFill>
                  <a:srgbClr val="F5D77A"/>
                </a:solidFill>
                <a:latin typeface="Consolas"/>
              </a:rPr>
              <a:t>"Daily weather forecast for a city. Use for</a:t>
            </a:r>
          </a:p>
          <a:p>
            <a:pPr>
              <a:buNone/>
            </a:pPr>
            <a:r>
              <a:rPr lang="en-US" sz="1500" dirty="0">
                <a:solidFill>
                  <a:srgbClr val="F5D77A"/>
                </a:solidFill>
                <a:latin typeface="Consolas"/>
              </a:rPr>
              <a:t>             questions about rain, temperature or wind</a:t>
            </a:r>
          </a:p>
          <a:p>
            <a:pPr>
              <a:buNone/>
            </a:pPr>
            <a:r>
              <a:rPr lang="en-US" sz="1500" dirty="0">
                <a:solidFill>
                  <a:srgbClr val="F5D77A"/>
                </a:solidFill>
                <a:latin typeface="Consolas"/>
              </a:rPr>
              <a:t>             on a specific date."</a:t>
            </a:r>
          </a:p>
          <a:p>
            <a:pPr>
              <a:spcBef>
                <a:spcPts val="400"/>
              </a:spcBef>
              <a:buNone/>
            </a:pPr>
            <a:r>
              <a:rPr lang="en-US" sz="1500" dirty="0">
                <a:solidFill>
                  <a:srgbClr val="8FB4E8"/>
                </a:solidFill>
                <a:latin typeface="Consolas"/>
              </a:rPr>
              <a:t>inputs:      </a:t>
            </a:r>
            <a:r>
              <a:rPr lang="en-US" sz="1500" dirty="0">
                <a:solidFill>
                  <a:srgbClr val="E8E8E8"/>
                </a:solidFill>
                <a:latin typeface="Consolas"/>
              </a:rPr>
              <a:t>city (text), date (date)</a:t>
            </a:r>
          </a:p>
        </p:txBody>
      </p:sp>
      <p:sp>
        <p:nvSpPr>
          <p:cNvPr id="106" name="Warn"/>
          <p:cNvSpPr txBox="1"/>
          <p:nvPr/>
        </p:nvSpPr>
        <p:spPr>
          <a:xfrm>
            <a:off x="762000" y="5283200"/>
            <a:ext cx="508000" cy="508000"/>
          </a:xfrm>
          <a:prstGeom prst="ellipse">
            <a:avLst/>
          </a:prstGeom>
          <a:solidFill>
            <a:srgbClr val="FBE9E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200" b="1" dirty="0">
                <a:solidFill>
                  <a:srgbClr val="B1063A"/>
                </a:solidFill>
              </a:rPr>
              <a:t>!</a:t>
            </a:r>
          </a:p>
        </p:txBody>
      </p:sp>
      <p:sp>
        <p:nvSpPr>
          <p:cNvPr id="107" name="WarnT"/>
          <p:cNvSpPr txBox="1"/>
          <p:nvPr/>
        </p:nvSpPr>
        <p:spPr>
          <a:xfrm>
            <a:off x="1397000" y="5207000"/>
            <a:ext cx="100330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700" b="1" dirty="0">
                <a:solidFill>
                  <a:srgbClr val="B1063A"/>
                </a:solidFill>
              </a:rPr>
              <a:t>Descriptions und alles, was ein Tool zurückgibt, sind Text, der Ihren Agent steuert. </a:t>
            </a:r>
          </a:p>
        </p:txBody>
      </p:sp>
    </p:spTree>
    <p:extLst>
      <p:ext uri="{BB962C8B-B14F-4D97-AF65-F5344CB8AC3E}">
        <p14:creationId xmlns:p14="http://schemas.microsoft.com/office/powerpoint/2010/main" val="802640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ADC7B-1D01-DBC2-17AE-EEF151633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Sicherheit: Wem vertrauen Sie?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1" name="Frame"/>
          <p:cNvSpPr txBox="1"/>
          <p:nvPr/>
        </p:nvSpPr>
        <p:spPr>
          <a:xfrm>
            <a:off x="762000" y="1346200"/>
            <a:ext cx="609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B1063A"/>
                </a:solidFill>
              </a:rPr>
              <a:t>Ein verbundener Server handelt mit den Rechten, die Sie ihm </a:t>
            </a:r>
            <a:r>
              <a:rPr lang="en-US" sz="1400" b="1" dirty="0" err="1">
                <a:solidFill>
                  <a:srgbClr val="B1063A"/>
                </a:solidFill>
              </a:rPr>
              <a:t>gegeben</a:t>
            </a:r>
            <a:r>
              <a:rPr lang="en-US" sz="1400" b="1" dirty="0">
                <a:solidFill>
                  <a:srgbClr val="B1063A"/>
                </a:solidFill>
              </a:rPr>
              <a:t> </a:t>
            </a:r>
            <a:r>
              <a:rPr lang="en-US" sz="1400" b="1" dirty="0" err="1">
                <a:solidFill>
                  <a:srgbClr val="B1063A"/>
                </a:solidFill>
              </a:rPr>
              <a:t>haben</a:t>
            </a:r>
            <a:r>
              <a:rPr lang="en-US" sz="1400" b="1" dirty="0">
                <a:solidFill>
                  <a:srgbClr val="B1063A"/>
                </a:solidFill>
              </a:rPr>
              <a:t>.</a:t>
            </a: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762000" y="1981200"/>
          <a:ext cx="6096000" cy="3512820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Risiko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Was passieren kann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Zu weitreichende Rechte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der Server bekommt ein Admin-Token, obwohl er nur lesen musste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 err="1">
                          <a:solidFill>
                            <a:srgbClr val="2B2B2B"/>
                          </a:solidFill>
                        </a:rPr>
                        <a:t>Offengelegte</a:t>
                      </a: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rgbClr val="2B2B2B"/>
                          </a:solidFill>
                        </a:rPr>
                        <a:t>Geheimnisse</a:t>
                      </a:r>
                      <a:endParaRPr lang="en-US" sz="1400" b="1" dirty="0">
                        <a:solidFill>
                          <a:srgbClr val="2B2B2B"/>
                        </a:solidFill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ein API-Key liegt im Klartext in einer Config-Datei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Prompt Injection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eine eingehende E-Mail versteckt Anweisungen, und der Agent führt sie aus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Tool Poisoning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eine Tool-Description versteckt Anweisungen, die niemand in der UI sieht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Rug Pull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ein geprüfter Server ändert nach einem Update seine Tool-Descriptions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Supply Chain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ein Server imitiert einen bekannten Anbieter und schickt jede E-Mail per BCC weiter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200" name="Line 200"/>
          <p:cNvCxnSpPr/>
          <p:nvPr/>
        </p:nvCxnSpPr>
        <p:spPr>
          <a:xfrm flipV="1">
            <a:off x="8128000" y="2286000"/>
            <a:ext cx="1270000" cy="2540000"/>
          </a:xfrm>
          <a:prstGeom prst="straightConnector1">
            <a:avLst/>
          </a:prstGeom>
          <a:ln w="28575">
            <a:solidFill>
              <a:srgbClr val="B1063A"/>
            </a:solidFill>
          </a:ln>
        </p:spPr>
      </p:cxnSp>
      <p:cxnSp>
        <p:nvCxnSpPr>
          <p:cNvPr id="201" name="Line 201"/>
          <p:cNvCxnSpPr/>
          <p:nvPr/>
        </p:nvCxnSpPr>
        <p:spPr>
          <a:xfrm>
            <a:off x="9398000" y="2286000"/>
            <a:ext cx="1270000" cy="2540000"/>
          </a:xfrm>
          <a:prstGeom prst="straightConnector1">
            <a:avLst/>
          </a:prstGeom>
          <a:ln w="28575">
            <a:solidFill>
              <a:srgbClr val="B1063A"/>
            </a:solidFill>
          </a:ln>
        </p:spPr>
      </p:cxnSp>
      <p:cxnSp>
        <p:nvCxnSpPr>
          <p:cNvPr id="202" name="Line 202"/>
          <p:cNvCxnSpPr/>
          <p:nvPr/>
        </p:nvCxnSpPr>
        <p:spPr>
          <a:xfrm>
            <a:off x="8128000" y="4826000"/>
            <a:ext cx="2540000" cy="0"/>
          </a:xfrm>
          <a:prstGeom prst="straightConnector1">
            <a:avLst/>
          </a:prstGeom>
          <a:ln w="28575">
            <a:solidFill>
              <a:srgbClr val="B1063A"/>
            </a:solidFill>
          </a:ln>
        </p:spPr>
      </p:cxnSp>
      <p:sp>
        <p:nvSpPr>
          <p:cNvPr id="203" name="Tri0"/>
          <p:cNvSpPr txBox="1"/>
          <p:nvPr/>
        </p:nvSpPr>
        <p:spPr>
          <a:xfrm>
            <a:off x="8636000" y="1981200"/>
            <a:ext cx="1524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50800" tIns="45720" rIns="50800" bIns="45720" anchor="ctr"/>
          <a:lstStyle/>
          <a:p>
            <a:pPr algn="ctr">
              <a:buNone/>
            </a:pPr>
            <a:r>
              <a:rPr lang="en-US" sz="1300" b="1" dirty="0">
                <a:solidFill>
                  <a:srgbClr val="1A1A1A"/>
                </a:solidFill>
              </a:rPr>
              <a:t>Private Daten</a:t>
            </a:r>
          </a:p>
          <a:p>
            <a:pPr algn="ctr">
              <a:buNone/>
            </a:pPr>
            <a:r>
              <a:rPr lang="en-US" sz="1100" dirty="0">
                <a:solidFill>
                  <a:srgbClr val="6E6E6E"/>
                </a:solidFill>
              </a:rPr>
              <a:t>der Agent kann sie lesen</a:t>
            </a:r>
          </a:p>
        </p:txBody>
      </p:sp>
      <p:sp>
        <p:nvSpPr>
          <p:cNvPr id="204" name="Tri1"/>
          <p:cNvSpPr txBox="1"/>
          <p:nvPr/>
        </p:nvSpPr>
        <p:spPr>
          <a:xfrm>
            <a:off x="7366000" y="4521200"/>
            <a:ext cx="1524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50800" tIns="45720" rIns="50800" bIns="45720" anchor="ctr"/>
          <a:lstStyle/>
          <a:p>
            <a:pPr algn="ctr">
              <a:buNone/>
            </a:pPr>
            <a:r>
              <a:rPr lang="en-US" sz="1300" b="1" dirty="0">
                <a:solidFill>
                  <a:srgbClr val="1A1A1A"/>
                </a:solidFill>
              </a:rPr>
              <a:t>Fremde Inhalte</a:t>
            </a:r>
          </a:p>
          <a:p>
            <a:pPr algn="ctr">
              <a:buNone/>
            </a:pPr>
            <a:r>
              <a:rPr lang="en-US" sz="1100" dirty="0">
                <a:solidFill>
                  <a:srgbClr val="6E6E6E"/>
                </a:solidFill>
              </a:rPr>
              <a:t>jeder kann sie senden</a:t>
            </a:r>
          </a:p>
        </p:txBody>
      </p:sp>
      <p:sp>
        <p:nvSpPr>
          <p:cNvPr id="205" name="Tri2"/>
          <p:cNvSpPr txBox="1"/>
          <p:nvPr/>
        </p:nvSpPr>
        <p:spPr>
          <a:xfrm>
            <a:off x="9906000" y="4521200"/>
            <a:ext cx="1524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50800" tIns="45720" rIns="50800" bIns="45720" anchor="ctr"/>
          <a:lstStyle/>
          <a:p>
            <a:pPr algn="ctr">
              <a:buNone/>
            </a:pPr>
            <a:r>
              <a:rPr lang="en-US" sz="1300" b="1" dirty="0">
                <a:solidFill>
                  <a:srgbClr val="1A1A1A"/>
                </a:solidFill>
              </a:rPr>
              <a:t>Ein Kanal nach außen</a:t>
            </a:r>
          </a:p>
          <a:p>
            <a:pPr algn="ctr">
              <a:buNone/>
            </a:pPr>
            <a:r>
              <a:rPr lang="en-US" sz="1100" dirty="0">
                <a:solidFill>
                  <a:srgbClr val="6E6E6E"/>
                </a:solidFill>
              </a:rPr>
              <a:t>E-Mail, Web, API</a:t>
            </a:r>
          </a:p>
        </p:txBody>
      </p:sp>
      <p:sp>
        <p:nvSpPr>
          <p:cNvPr id="206" name="Center"/>
          <p:cNvSpPr txBox="1"/>
          <p:nvPr/>
        </p:nvSpPr>
        <p:spPr>
          <a:xfrm>
            <a:off x="8661400" y="3403600"/>
            <a:ext cx="14732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5400" tIns="45720" rIns="25400" bIns="45720" anchor="ctr"/>
          <a:lstStyle/>
          <a:p>
            <a:pPr algn="ctr">
              <a:buNone/>
            </a:pPr>
            <a:r>
              <a:rPr lang="en-US" sz="1200" b="1" dirty="0">
                <a:solidFill>
                  <a:srgbClr val="B1063A"/>
                </a:solidFill>
              </a:rPr>
              <a:t>The Lethal Trifecta</a:t>
            </a:r>
          </a:p>
          <a:p>
            <a:pPr algn="ctr">
              <a:buNone/>
            </a:pPr>
            <a:r>
              <a:rPr lang="en-US" sz="1000" dirty="0">
                <a:solidFill>
                  <a:srgbClr val="B1063A"/>
                </a:solidFill>
              </a:rPr>
              <a:t>alle drei = SECURITY RISK</a:t>
            </a:r>
          </a:p>
        </p:txBody>
      </p:sp>
      <p:sp>
        <p:nvSpPr>
          <p:cNvPr id="207" name="TriHead"/>
          <p:cNvSpPr txBox="1"/>
          <p:nvPr/>
        </p:nvSpPr>
        <p:spPr>
          <a:xfrm>
            <a:off x="7366000" y="1371600"/>
            <a:ext cx="406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endParaRPr lang="en-US" sz="1400" b="1" dirty="0">
              <a:solidFill>
                <a:srgbClr val="3C3C3C"/>
              </a:solidFill>
            </a:endParaRPr>
          </a:p>
        </p:txBody>
      </p:sp>
      <p:sp>
        <p:nvSpPr>
          <p:cNvPr id="208" name="TriFoot"/>
          <p:cNvSpPr txBox="1"/>
          <p:nvPr/>
        </p:nvSpPr>
        <p:spPr>
          <a:xfrm>
            <a:off x="7366000" y="5308600"/>
            <a:ext cx="40640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de-DE" sz="1400" b="1" dirty="0">
                <a:solidFill>
                  <a:srgbClr val="1A1A1A"/>
                </a:solidFill>
              </a:rPr>
              <a:t>Kombiniert niemals mehr als zwei dieser Befugnisse!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384D0A-6384-CD72-02CE-BDC1EA11E897}"/>
              </a:ext>
            </a:extLst>
          </p:cNvPr>
          <p:cNvSpPr txBox="1"/>
          <p:nvPr/>
        </p:nvSpPr>
        <p:spPr>
          <a:xfrm>
            <a:off x="3046379" y="6400800"/>
            <a:ext cx="60992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https://</a:t>
            </a:r>
            <a:r>
              <a:rPr lang="en-US" sz="1200" dirty="0" err="1"/>
              <a:t>simonwillison.net</a:t>
            </a:r>
            <a:r>
              <a:rPr lang="en-US" sz="1200" dirty="0"/>
              <a:t>/2025/Jun/16/the-lethal-trifecta/</a:t>
            </a:r>
          </a:p>
        </p:txBody>
      </p:sp>
    </p:spTree>
    <p:extLst>
      <p:ext uri="{BB962C8B-B14F-4D97-AF65-F5344CB8AC3E}">
        <p14:creationId xmlns:p14="http://schemas.microsoft.com/office/powerpoint/2010/main" val="2197017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A4D95-D639-3157-E210-0CFF28D16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Was </a:t>
            </a:r>
            <a:r>
              <a:rPr lang="en-US" sz="3000" b="1" dirty="0" err="1">
                <a:solidFill>
                  <a:srgbClr val="B1063A"/>
                </a:solidFill>
              </a:rPr>
              <a:t>kann</a:t>
            </a:r>
            <a:r>
              <a:rPr lang="en-US" sz="3000" b="1" dirty="0">
                <a:solidFill>
                  <a:srgbClr val="B1063A"/>
                </a:solidFill>
              </a:rPr>
              <a:t> </a:t>
            </a:r>
            <a:r>
              <a:rPr lang="en-US" sz="3000" b="1" dirty="0" err="1">
                <a:solidFill>
                  <a:srgbClr val="B1063A"/>
                </a:solidFill>
              </a:rPr>
              <a:t>passieren</a:t>
            </a:r>
            <a:r>
              <a:rPr lang="en-US" sz="3000" b="1" dirty="0">
                <a:solidFill>
                  <a:srgbClr val="B1063A"/>
                </a:solidFill>
              </a:rPr>
              <a:t>?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1" name="Card0"/>
          <p:cNvSpPr txBox="1"/>
          <p:nvPr/>
        </p:nvSpPr>
        <p:spPr>
          <a:xfrm>
            <a:off x="762000" y="1651000"/>
            <a:ext cx="10668000" cy="10414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2" name="Bar0"/>
          <p:cNvSpPr txBox="1"/>
          <p:nvPr/>
        </p:nvSpPr>
        <p:spPr>
          <a:xfrm>
            <a:off x="762000" y="1651000"/>
            <a:ext cx="101600" cy="10414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3" name="Head0"/>
          <p:cNvSpPr txBox="1"/>
          <p:nvPr/>
        </p:nvSpPr>
        <p:spPr>
          <a:xfrm>
            <a:off x="1066800" y="17526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500" b="1" dirty="0">
                <a:solidFill>
                  <a:srgbClr val="1A1A1A"/>
                </a:solidFill>
              </a:rPr>
              <a:t>Mai 2025 · GitHub MCP</a:t>
            </a:r>
            <a:r>
              <a:rPr lang="en-US" sz="1300" i="1" dirty="0">
                <a:solidFill>
                  <a:srgbClr val="6E6E6E"/>
                </a:solidFill>
              </a:rPr>
              <a:t>   demonstriert</a:t>
            </a:r>
          </a:p>
        </p:txBody>
      </p:sp>
      <p:sp>
        <p:nvSpPr>
          <p:cNvPr id="104" name="Body0"/>
          <p:cNvSpPr txBox="1"/>
          <p:nvPr/>
        </p:nvSpPr>
        <p:spPr>
          <a:xfrm>
            <a:off x="1066800" y="2082800"/>
            <a:ext cx="660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400" dirty="0">
                <a:solidFill>
                  <a:srgbClr val="3C3C3C"/>
                </a:solidFill>
              </a:rPr>
              <a:t>Ein bösartiges öffentliches Issue bringt einen Agent dazu, Daten aus einem privaten Repo in einen öffentlichen Pull Request zu kopieren.</a:t>
            </a:r>
          </a:p>
        </p:txBody>
      </p:sp>
      <p:sp>
        <p:nvSpPr>
          <p:cNvPr id="105" name="Tag0"/>
          <p:cNvSpPr txBox="1"/>
          <p:nvPr/>
        </p:nvSpPr>
        <p:spPr>
          <a:xfrm>
            <a:off x="8001000" y="1803400"/>
            <a:ext cx="3251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/>
          <a:lstStyle/>
          <a:p>
            <a:pPr>
              <a:buNone/>
            </a:pPr>
            <a:r>
              <a:rPr lang="en-US" sz="1400" b="1" dirty="0">
                <a:solidFill>
                  <a:srgbClr val="B1063A"/>
                </a:solidFill>
              </a:rPr>
              <a:t>Prompt Injection + zu weit gefasstes Token</a:t>
            </a:r>
          </a:p>
          <a:p>
            <a:pPr>
              <a:buNone/>
            </a:pPr>
            <a:r>
              <a:rPr lang="en-US" sz="1200" dirty="0">
                <a:solidFill>
                  <a:srgbClr val="6E6E6E"/>
                </a:solidFill>
              </a:rPr>
              <a:t>Quelle: Invariant Labs</a:t>
            </a:r>
          </a:p>
          <a:p>
            <a:pPr>
              <a:buNone/>
            </a:pPr>
            <a:r>
              <a:rPr lang="en-US" sz="1000" dirty="0">
                <a:solidFill>
                  <a:srgbClr val="6E6E6E"/>
                </a:solidFill>
              </a:rPr>
              <a:t>https://</a:t>
            </a:r>
            <a:r>
              <a:rPr lang="en-US" sz="1000" dirty="0" err="1">
                <a:solidFill>
                  <a:srgbClr val="6E6E6E"/>
                </a:solidFill>
              </a:rPr>
              <a:t>invariantlabs.ai</a:t>
            </a:r>
            <a:r>
              <a:rPr lang="en-US" sz="1000" dirty="0">
                <a:solidFill>
                  <a:srgbClr val="6E6E6E"/>
                </a:solidFill>
              </a:rPr>
              <a:t>/blog/</a:t>
            </a:r>
            <a:r>
              <a:rPr lang="en-US" sz="1000" dirty="0" err="1">
                <a:solidFill>
                  <a:srgbClr val="6E6E6E"/>
                </a:solidFill>
              </a:rPr>
              <a:t>mcp</a:t>
            </a:r>
            <a:r>
              <a:rPr lang="en-US" sz="1000" dirty="0">
                <a:solidFill>
                  <a:srgbClr val="6E6E6E"/>
                </a:solidFill>
              </a:rPr>
              <a:t>-</a:t>
            </a:r>
            <a:r>
              <a:rPr lang="en-US" sz="1000" dirty="0" err="1">
                <a:solidFill>
                  <a:srgbClr val="6E6E6E"/>
                </a:solidFill>
              </a:rPr>
              <a:t>github</a:t>
            </a:r>
            <a:r>
              <a:rPr lang="en-US" sz="1000" dirty="0">
                <a:solidFill>
                  <a:srgbClr val="6E6E6E"/>
                </a:solidFill>
              </a:rPr>
              <a:t>-vulnerability</a:t>
            </a:r>
          </a:p>
        </p:txBody>
      </p:sp>
      <p:sp>
        <p:nvSpPr>
          <p:cNvPr id="106" name="Card1"/>
          <p:cNvSpPr txBox="1"/>
          <p:nvPr/>
        </p:nvSpPr>
        <p:spPr>
          <a:xfrm>
            <a:off x="762000" y="2819400"/>
            <a:ext cx="10668000" cy="10414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7" name="Bar1"/>
          <p:cNvSpPr txBox="1"/>
          <p:nvPr/>
        </p:nvSpPr>
        <p:spPr>
          <a:xfrm>
            <a:off x="762000" y="2819400"/>
            <a:ext cx="101600" cy="10414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8" name="Head1"/>
          <p:cNvSpPr txBox="1"/>
          <p:nvPr/>
        </p:nvSpPr>
        <p:spPr>
          <a:xfrm>
            <a:off x="1066800" y="29210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500" b="1" dirty="0">
                <a:solidFill>
                  <a:srgbClr val="1A1A1A"/>
                </a:solidFill>
              </a:rPr>
              <a:t>Sep. 2025 · postmark-mcp</a:t>
            </a:r>
            <a:r>
              <a:rPr lang="en-US" sz="1300" i="1" dirty="0">
                <a:solidFill>
                  <a:srgbClr val="B1063A"/>
                </a:solidFill>
              </a:rPr>
              <a:t>   in der Praxis</a:t>
            </a:r>
          </a:p>
        </p:txBody>
      </p:sp>
      <p:sp>
        <p:nvSpPr>
          <p:cNvPr id="109" name="Body1"/>
          <p:cNvSpPr txBox="1"/>
          <p:nvPr/>
        </p:nvSpPr>
        <p:spPr>
          <a:xfrm>
            <a:off x="1066800" y="3251200"/>
            <a:ext cx="660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400" dirty="0">
                <a:solidFill>
                  <a:srgbClr val="3C3C3C"/>
                </a:solidFill>
              </a:rPr>
              <a:t>Ein gefälschter E-Mail-Server verhält sich monatelang unauffällig, dann schickt er still jede E-Mail per BCC an </a:t>
            </a:r>
            <a:r>
              <a:rPr lang="en-US" sz="1400" dirty="0" err="1">
                <a:solidFill>
                  <a:srgbClr val="3C3C3C"/>
                </a:solidFill>
              </a:rPr>
              <a:t>eine</a:t>
            </a:r>
            <a:r>
              <a:rPr lang="en-US" sz="1400" dirty="0">
                <a:solidFill>
                  <a:srgbClr val="3C3C3C"/>
                </a:solidFill>
              </a:rPr>
              <a:t> externe </a:t>
            </a:r>
            <a:r>
              <a:rPr lang="en-US" sz="1400" dirty="0" err="1">
                <a:solidFill>
                  <a:srgbClr val="3C3C3C"/>
                </a:solidFill>
              </a:rPr>
              <a:t>Adresse</a:t>
            </a:r>
            <a:r>
              <a:rPr lang="en-US" sz="1400" dirty="0">
                <a:solidFill>
                  <a:srgbClr val="3C3C3C"/>
                </a:solidFill>
              </a:rPr>
              <a:t>.</a:t>
            </a:r>
          </a:p>
        </p:txBody>
      </p:sp>
      <p:sp>
        <p:nvSpPr>
          <p:cNvPr id="110" name="Tag1"/>
          <p:cNvSpPr txBox="1"/>
          <p:nvPr/>
        </p:nvSpPr>
        <p:spPr>
          <a:xfrm>
            <a:off x="8001000" y="2971800"/>
            <a:ext cx="3251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/>
          <a:lstStyle/>
          <a:p>
            <a:pPr>
              <a:buNone/>
            </a:pPr>
            <a:r>
              <a:rPr lang="en-US" sz="1400" b="1" dirty="0">
                <a:solidFill>
                  <a:srgbClr val="B1063A"/>
                </a:solidFill>
              </a:rPr>
              <a:t>Supply Chain</a:t>
            </a:r>
          </a:p>
          <a:p>
            <a:pPr>
              <a:buNone/>
            </a:pPr>
            <a:r>
              <a:rPr lang="en-US" sz="1200" dirty="0">
                <a:solidFill>
                  <a:srgbClr val="6E6E6E"/>
                </a:solidFill>
              </a:rPr>
              <a:t>Quelle: Koi Security</a:t>
            </a:r>
          </a:p>
          <a:p>
            <a:r>
              <a:rPr lang="en-US" sz="1000" dirty="0">
                <a:solidFill>
                  <a:schemeClr val="accent6"/>
                </a:solidFill>
              </a:rPr>
              <a:t>https://</a:t>
            </a:r>
            <a:r>
              <a:rPr lang="en-US" sz="1000" dirty="0" err="1">
                <a:solidFill>
                  <a:schemeClr val="accent6"/>
                </a:solidFill>
              </a:rPr>
              <a:t>thehackernews.com</a:t>
            </a:r>
            <a:r>
              <a:rPr lang="en-US" sz="1000" dirty="0">
                <a:solidFill>
                  <a:schemeClr val="accent6"/>
                </a:solidFill>
              </a:rPr>
              <a:t>/2025/09/first-malicious-</a:t>
            </a:r>
            <a:r>
              <a:rPr lang="en-US" sz="1000" dirty="0" err="1">
                <a:solidFill>
                  <a:schemeClr val="accent6"/>
                </a:solidFill>
              </a:rPr>
              <a:t>mcp</a:t>
            </a:r>
            <a:r>
              <a:rPr lang="en-US" sz="1000" dirty="0">
                <a:solidFill>
                  <a:schemeClr val="accent6"/>
                </a:solidFill>
              </a:rPr>
              <a:t>-server-</a:t>
            </a:r>
            <a:r>
              <a:rPr lang="en-US" sz="1000" dirty="0" err="1">
                <a:solidFill>
                  <a:schemeClr val="accent6"/>
                </a:solidFill>
              </a:rPr>
              <a:t>found.html</a:t>
            </a:r>
            <a:endParaRPr lang="en-US" sz="1000" dirty="0">
              <a:solidFill>
                <a:schemeClr val="accent6"/>
              </a:solidFill>
            </a:endParaRPr>
          </a:p>
          <a:p>
            <a:pPr>
              <a:buNone/>
            </a:pPr>
            <a:endParaRPr lang="en-US" sz="1200" dirty="0">
              <a:solidFill>
                <a:srgbClr val="6E6E6E"/>
              </a:solidFill>
            </a:endParaRPr>
          </a:p>
        </p:txBody>
      </p:sp>
      <p:sp>
        <p:nvSpPr>
          <p:cNvPr id="111" name="Card2"/>
          <p:cNvSpPr txBox="1"/>
          <p:nvPr/>
        </p:nvSpPr>
        <p:spPr>
          <a:xfrm>
            <a:off x="762000" y="3987800"/>
            <a:ext cx="10668000" cy="10414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12" name="Bar2"/>
          <p:cNvSpPr txBox="1"/>
          <p:nvPr/>
        </p:nvSpPr>
        <p:spPr>
          <a:xfrm>
            <a:off x="762000" y="3987800"/>
            <a:ext cx="101600" cy="10414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13" name="Head2"/>
          <p:cNvSpPr txBox="1"/>
          <p:nvPr/>
        </p:nvSpPr>
        <p:spPr>
          <a:xfrm>
            <a:off x="1066800" y="40894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500" b="1" dirty="0">
                <a:solidFill>
                  <a:srgbClr val="1A1A1A"/>
                </a:solidFill>
              </a:rPr>
              <a:t>2025 · MCPoison · CVE-2025-54136</a:t>
            </a:r>
            <a:r>
              <a:rPr lang="en-US" sz="1300" i="1" dirty="0">
                <a:solidFill>
                  <a:srgbClr val="B1063A"/>
                </a:solidFill>
              </a:rPr>
              <a:t>   in der Praxis</a:t>
            </a:r>
          </a:p>
        </p:txBody>
      </p:sp>
      <p:sp>
        <p:nvSpPr>
          <p:cNvPr id="114" name="Body2"/>
          <p:cNvSpPr txBox="1"/>
          <p:nvPr/>
        </p:nvSpPr>
        <p:spPr>
          <a:xfrm>
            <a:off x="1066800" y="4419600"/>
            <a:ext cx="660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400" dirty="0">
                <a:solidFill>
                  <a:srgbClr val="3C3C3C"/>
                </a:solidFill>
              </a:rPr>
              <a:t>Eine bereits genehmigte MCP-Config wird nachträglich verändert; Code läuft ohne erneute Freigabe.</a:t>
            </a:r>
          </a:p>
        </p:txBody>
      </p:sp>
      <p:sp>
        <p:nvSpPr>
          <p:cNvPr id="115" name="Tag2"/>
          <p:cNvSpPr txBox="1"/>
          <p:nvPr/>
        </p:nvSpPr>
        <p:spPr>
          <a:xfrm>
            <a:off x="8001000" y="4140200"/>
            <a:ext cx="3251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/>
          <a:lstStyle/>
          <a:p>
            <a:pPr>
              <a:buNone/>
            </a:pPr>
            <a:r>
              <a:rPr lang="en-US" sz="1400" b="1" dirty="0">
                <a:solidFill>
                  <a:srgbClr val="B1063A"/>
                </a:solidFill>
              </a:rPr>
              <a:t>Rug Pull bei vertrauter Config</a:t>
            </a:r>
          </a:p>
          <a:p>
            <a:pPr>
              <a:buNone/>
            </a:pPr>
            <a:r>
              <a:rPr lang="en-US" sz="1200" dirty="0">
                <a:solidFill>
                  <a:srgbClr val="6E6E6E"/>
                </a:solidFill>
              </a:rPr>
              <a:t>Quelle: Check Point Research</a:t>
            </a:r>
          </a:p>
          <a:p>
            <a:pPr>
              <a:buNone/>
            </a:pPr>
            <a:r>
              <a:rPr lang="en-US" sz="1000" dirty="0">
                <a:solidFill>
                  <a:srgbClr val="6E6E6E"/>
                </a:solidFill>
              </a:rPr>
              <a:t>https://</a:t>
            </a:r>
            <a:r>
              <a:rPr lang="en-US" sz="1000" dirty="0" err="1">
                <a:solidFill>
                  <a:srgbClr val="6E6E6E"/>
                </a:solidFill>
              </a:rPr>
              <a:t>research.checkpoint.com</a:t>
            </a:r>
            <a:r>
              <a:rPr lang="en-US" sz="1000" dirty="0">
                <a:solidFill>
                  <a:srgbClr val="6E6E6E"/>
                </a:solidFill>
              </a:rPr>
              <a:t>/2025/cursor-vulnerability-</a:t>
            </a:r>
            <a:r>
              <a:rPr lang="en-US" sz="1000" dirty="0" err="1">
                <a:solidFill>
                  <a:srgbClr val="6E6E6E"/>
                </a:solidFill>
              </a:rPr>
              <a:t>mcpoison</a:t>
            </a:r>
            <a:r>
              <a:rPr lang="en-US" sz="1000" dirty="0">
                <a:solidFill>
                  <a:srgbClr val="6E6E6E"/>
                </a:solidFill>
              </a:rPr>
              <a:t>/</a:t>
            </a:r>
          </a:p>
        </p:txBody>
      </p:sp>
      <p:sp>
        <p:nvSpPr>
          <p:cNvPr id="116" name="Close"/>
          <p:cNvSpPr txBox="1"/>
          <p:nvPr/>
        </p:nvSpPr>
        <p:spPr>
          <a:xfrm>
            <a:off x="762000" y="5334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Drei verschiedene Fehlerarten: </a:t>
            </a:r>
            <a:r>
              <a:rPr lang="en-US" sz="1800" b="1" dirty="0">
                <a:solidFill>
                  <a:srgbClr val="B1063A"/>
                </a:solidFill>
              </a:rPr>
              <a:t>ein gekaperter Agent · ein bösartiger Server · eine vertraute Config, die unbemerkt geändert wurde.</a:t>
            </a:r>
          </a:p>
        </p:txBody>
      </p:sp>
    </p:spTree>
    <p:extLst>
      <p:ext uri="{BB962C8B-B14F-4D97-AF65-F5344CB8AC3E}">
        <p14:creationId xmlns:p14="http://schemas.microsoft.com/office/powerpoint/2010/main" val="3233517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B35FD-5232-5948-000D-1984C8D35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 err="1">
                <a:solidFill>
                  <a:srgbClr val="B1063A"/>
                </a:solidFill>
              </a:rPr>
              <a:t>Risiken</a:t>
            </a:r>
            <a:r>
              <a:rPr lang="en-US" sz="3000" b="1" dirty="0">
                <a:solidFill>
                  <a:srgbClr val="B1063A"/>
                </a:solidFill>
              </a:rPr>
              <a:t> </a:t>
            </a:r>
            <a:r>
              <a:rPr lang="en-US" sz="3000" b="1" dirty="0" err="1">
                <a:solidFill>
                  <a:srgbClr val="B1063A"/>
                </a:solidFill>
              </a:rPr>
              <a:t>begrenzen</a:t>
            </a:r>
            <a:endParaRPr lang="en-US" sz="3000" b="1" dirty="0">
              <a:solidFill>
                <a:srgbClr val="B1063A"/>
              </a:solidFill>
            </a:endParaRP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1" name="Num0"/>
          <p:cNvSpPr txBox="1"/>
          <p:nvPr/>
        </p:nvSpPr>
        <p:spPr>
          <a:xfrm>
            <a:off x="762000" y="1625600"/>
            <a:ext cx="457200" cy="4572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2" name="Row0"/>
          <p:cNvSpPr txBox="1"/>
          <p:nvPr/>
        </p:nvSpPr>
        <p:spPr>
          <a:xfrm>
            <a:off x="1397000" y="1549400"/>
            <a:ext cx="1003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de-DE" sz="1800" b="1" dirty="0">
                <a:solidFill>
                  <a:srgbClr val="1A1A1A"/>
                </a:solidFill>
              </a:rPr>
              <a:t>Least Privilege  </a:t>
            </a:r>
            <a:r>
              <a:rPr lang="de-DE" sz="1600" dirty="0">
                <a:solidFill>
                  <a:srgbClr val="3C3C3C"/>
                </a:solidFill>
              </a:rPr>
              <a:t>der Agent bekommt ein eigenes Konto, minimale Scopes, kurzlebige Keys.</a:t>
            </a:r>
          </a:p>
        </p:txBody>
      </p:sp>
      <p:sp>
        <p:nvSpPr>
          <p:cNvPr id="112" name="NumS"/>
          <p:cNvSpPr txBox="1"/>
          <p:nvPr/>
        </p:nvSpPr>
        <p:spPr>
          <a:xfrm>
            <a:off x="762000" y="2222500"/>
            <a:ext cx="457200" cy="4572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3" name="RowS"/>
          <p:cNvSpPr txBox="1"/>
          <p:nvPr/>
        </p:nvSpPr>
        <p:spPr>
          <a:xfrm>
            <a:off x="1397000" y="2146300"/>
            <a:ext cx="1003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de-DE" sz="1800" b="1" dirty="0">
                <a:solidFill>
                  <a:srgbClr val="1A1A1A"/>
                </a:solidFill>
              </a:rPr>
              <a:t>Sandbox  </a:t>
            </a:r>
            <a:r>
              <a:rPr lang="de-DE" sz="1600" dirty="0">
                <a:solidFill>
                  <a:srgbClr val="3C3C3C"/>
                </a:solidFill>
              </a:rPr>
              <a:t>lokale Server in einem Docker-Container laufen lassen: begrenzt, was der Prozess erreicht (Dateisystem, Netzwerk, System), falls er sich falsch verhält.</a:t>
            </a:r>
          </a:p>
        </p:txBody>
      </p:sp>
      <p:sp>
        <p:nvSpPr>
          <p:cNvPr id="103" name="Num1"/>
          <p:cNvSpPr txBox="1"/>
          <p:nvPr/>
        </p:nvSpPr>
        <p:spPr>
          <a:xfrm>
            <a:off x="762000" y="2819400"/>
            <a:ext cx="457200" cy="4572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4" name="Row1"/>
          <p:cNvSpPr txBox="1"/>
          <p:nvPr/>
        </p:nvSpPr>
        <p:spPr>
          <a:xfrm>
            <a:off x="1397000" y="2743200"/>
            <a:ext cx="1003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Human in the loop  </a:t>
            </a:r>
            <a:r>
              <a:rPr lang="en-US" sz="1600" dirty="0">
                <a:solidFill>
                  <a:srgbClr val="3C3C3C"/>
                </a:solidFill>
              </a:rPr>
              <a:t>ein Mensch gibt alles Unumkehrbare frei: senden, löschen, bezahlen, veröffentlichen.</a:t>
            </a:r>
          </a:p>
        </p:txBody>
      </p:sp>
      <p:sp>
        <p:nvSpPr>
          <p:cNvPr id="105" name="Num2"/>
          <p:cNvSpPr txBox="1"/>
          <p:nvPr/>
        </p:nvSpPr>
        <p:spPr>
          <a:xfrm>
            <a:off x="762000" y="3416300"/>
            <a:ext cx="457200" cy="4572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6" name="Row2"/>
          <p:cNvSpPr txBox="1"/>
          <p:nvPr/>
        </p:nvSpPr>
        <p:spPr>
          <a:xfrm>
            <a:off x="1397000" y="3340100"/>
            <a:ext cx="1003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Rule of Two (Meta)  </a:t>
            </a:r>
            <a:r>
              <a:rPr lang="en-US" sz="1600" dirty="0">
                <a:solidFill>
                  <a:srgbClr val="3C3C3C"/>
                </a:solidFill>
              </a:rPr>
              <a:t>pro Agent höchstens 2 der 3 Trifecta-Eigenschaften; die dritte nur hinter einer Freigabe.</a:t>
            </a:r>
          </a:p>
        </p:txBody>
      </p:sp>
      <p:sp>
        <p:nvSpPr>
          <p:cNvPr id="107" name="Num3"/>
          <p:cNvSpPr txBox="1"/>
          <p:nvPr/>
        </p:nvSpPr>
        <p:spPr>
          <a:xfrm>
            <a:off x="762000" y="4013200"/>
            <a:ext cx="457200" cy="4572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8" name="Row3"/>
          <p:cNvSpPr txBox="1"/>
          <p:nvPr/>
        </p:nvSpPr>
        <p:spPr>
          <a:xfrm>
            <a:off x="1397000" y="3937000"/>
            <a:ext cx="1003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Der Quelle vertrauen  </a:t>
            </a:r>
            <a:r>
              <a:rPr lang="en-US" sz="1600" dirty="0">
                <a:solidFill>
                  <a:srgbClr val="3C3C3C"/>
                </a:solidFill>
              </a:rPr>
              <a:t>verifizierte oder First-Party-Server bevorzugen; Updates wie Software-Updates behandeln.</a:t>
            </a:r>
          </a:p>
        </p:txBody>
      </p:sp>
      <p:sp>
        <p:nvSpPr>
          <p:cNvPr id="109" name="Num4"/>
          <p:cNvSpPr txBox="1"/>
          <p:nvPr/>
        </p:nvSpPr>
        <p:spPr>
          <a:xfrm>
            <a:off x="762000" y="4610100"/>
            <a:ext cx="457200" cy="4572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10" name="Row4"/>
          <p:cNvSpPr txBox="1"/>
          <p:nvPr/>
        </p:nvSpPr>
        <p:spPr>
          <a:xfrm>
            <a:off x="1397000" y="4533900"/>
            <a:ext cx="1003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Logs führen  </a:t>
            </a:r>
            <a:r>
              <a:rPr lang="en-US" sz="1600" dirty="0">
                <a:solidFill>
                  <a:srgbClr val="3C3C3C"/>
                </a:solidFill>
              </a:rPr>
              <a:t>wenn etwas schiefgeht, wollen Sie wissen, was der Agent getan hat.</a:t>
            </a:r>
          </a:p>
        </p:txBody>
      </p:sp>
      <p:sp>
        <p:nvSpPr>
          <p:cNvPr id="111" name="Mind"/>
          <p:cNvSpPr txBox="1"/>
          <p:nvPr/>
        </p:nvSpPr>
        <p:spPr>
          <a:xfrm>
            <a:off x="762000" y="5308600"/>
            <a:ext cx="10668000" cy="812800"/>
          </a:xfrm>
          <a:prstGeom prst="roundRect">
            <a:avLst/>
          </a:prstGeom>
          <a:solidFill>
            <a:srgbClr val="B1063A"/>
          </a:solidFill>
          <a:ln>
            <a:noFill/>
          </a:ln>
        </p:spPr>
        <p:txBody>
          <a:bodyPr wrap="square" lIns="203200" tIns="45720" rIns="203200" bIns="4572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Gehen Sie davon aus, dass der Agent gekapert werden </a:t>
            </a:r>
            <a:r>
              <a:rPr lang="en-US" sz="2000" b="1" i="1" dirty="0">
                <a:solidFill>
                  <a:srgbClr val="FFFFFF"/>
                </a:solidFill>
              </a:rPr>
              <a:t>kann</a:t>
            </a:r>
            <a:r>
              <a:rPr lang="en-US" sz="2000" b="1" dirty="0">
                <a:solidFill>
                  <a:srgbClr val="FFFFFF"/>
                </a:solidFill>
              </a:rPr>
              <a:t>, und machen Sie das überlebbar.</a:t>
            </a:r>
          </a:p>
        </p:txBody>
      </p:sp>
    </p:spTree>
    <p:extLst>
      <p:ext uri="{BB962C8B-B14F-4D97-AF65-F5344CB8AC3E}">
        <p14:creationId xmlns:p14="http://schemas.microsoft.com/office/powerpoint/2010/main" val="3848169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FF773-8D3C-A456-629A-5C995BD5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 err="1">
                <a:solidFill>
                  <a:srgbClr val="B1063A"/>
                </a:solidFill>
              </a:rPr>
              <a:t>Prüf-Checkliste</a:t>
            </a:r>
            <a:r>
              <a:rPr lang="en-US" sz="3000" b="1" dirty="0">
                <a:solidFill>
                  <a:srgbClr val="B1063A"/>
                </a:solidFill>
              </a:rPr>
              <a:t> für MCP-Sicherheit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762000" y="1574800"/>
          <a:ext cx="10668000" cy="27432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</a:rPr>
                        <a:t>Frage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solidFill>
                            <a:srgbClr val="B1063A"/>
                          </a:solidFill>
                        </a:rPr>
                        <a:t>1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</a:rPr>
                        <a:t>Wer stellt ihn bereit?  </a:t>
                      </a:r>
                      <a:r>
                        <a:rPr lang="en-US" sz="1500" dirty="0">
                          <a:solidFill>
                            <a:srgbClr val="6E6E6E"/>
                          </a:solidFill>
                        </a:rPr>
                        <a:t>First-Party · verifiziert · unbekannt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solidFill>
                            <a:srgbClr val="B1063A"/>
                          </a:solidFill>
                        </a:rPr>
                        <a:t>2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</a:rPr>
                        <a:t>Was kann er in Ihrem Namen tun?  </a:t>
                      </a:r>
                      <a:r>
                        <a:rPr lang="en-US" sz="1500" dirty="0">
                          <a:solidFill>
                            <a:srgbClr val="6E6E6E"/>
                          </a:solidFill>
                        </a:rPr>
                        <a:t>nur lesen vs. unumkehrbar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solidFill>
                            <a:srgbClr val="B1063A"/>
                          </a:solidFill>
                        </a:rPr>
                        <a:t>3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</a:rPr>
                        <a:t>Wohin gehen Ihre Daten?  </a:t>
                      </a:r>
                      <a:r>
                        <a:rPr lang="en-US" sz="1500" dirty="0">
                          <a:solidFill>
                            <a:srgbClr val="6E6E6E"/>
                          </a:solidFill>
                        </a:rPr>
                        <a:t>lokaler Code vs. Remote-Cloud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solidFill>
                            <a:srgbClr val="B1063A"/>
                          </a:solidFill>
                        </a:rPr>
                        <a:t>4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</a:rPr>
                        <a:t>Wird die Kombination gefährlich?  </a:t>
                      </a:r>
                      <a:r>
                        <a:rPr lang="en-US" sz="1500" dirty="0">
                          <a:solidFill>
                            <a:srgbClr val="6E6E6E"/>
                          </a:solidFill>
                        </a:rPr>
                        <a:t>Trifecta / Rule of Two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solidFill>
                            <a:srgbClr val="B1063A"/>
                          </a:solidFill>
                        </a:rPr>
                        <a:t>5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</a:rPr>
                        <a:t>Könnten Sie mit dem schlimmsten Fall leben?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2" name="VerdictLbl"/>
          <p:cNvSpPr txBox="1"/>
          <p:nvPr/>
        </p:nvSpPr>
        <p:spPr>
          <a:xfrm>
            <a:off x="762000" y="4521200"/>
            <a:ext cx="152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Urteil →</a:t>
            </a:r>
          </a:p>
        </p:txBody>
      </p:sp>
      <p:sp>
        <p:nvSpPr>
          <p:cNvPr id="103" name="Dot0"/>
          <p:cNvSpPr txBox="1"/>
          <p:nvPr/>
        </p:nvSpPr>
        <p:spPr>
          <a:xfrm>
            <a:off x="2413000" y="4660900"/>
            <a:ext cx="279400" cy="279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4" name="VT0"/>
          <p:cNvSpPr txBox="1"/>
          <p:nvPr/>
        </p:nvSpPr>
        <p:spPr>
          <a:xfrm>
            <a:off x="2794000" y="4521200"/>
            <a:ext cx="254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700" b="1" dirty="0">
                <a:solidFill>
                  <a:srgbClr val="2E8B57"/>
                </a:solidFill>
              </a:rPr>
              <a:t>nutzen</a:t>
            </a:r>
          </a:p>
        </p:txBody>
      </p:sp>
      <p:sp>
        <p:nvSpPr>
          <p:cNvPr id="105" name="Dot1"/>
          <p:cNvSpPr txBox="1"/>
          <p:nvPr/>
        </p:nvSpPr>
        <p:spPr>
          <a:xfrm>
            <a:off x="5410200" y="4660900"/>
            <a:ext cx="279400" cy="279400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6" name="VT1"/>
          <p:cNvSpPr txBox="1"/>
          <p:nvPr/>
        </p:nvSpPr>
        <p:spPr>
          <a:xfrm>
            <a:off x="5791200" y="4521200"/>
            <a:ext cx="254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700" b="1" dirty="0">
                <a:solidFill>
                  <a:srgbClr val="E0A100"/>
                </a:solidFill>
              </a:rPr>
              <a:t>mit Auflagen nutzen</a:t>
            </a:r>
          </a:p>
        </p:txBody>
      </p:sp>
      <p:sp>
        <p:nvSpPr>
          <p:cNvPr id="107" name="Dot2"/>
          <p:cNvSpPr txBox="1"/>
          <p:nvPr/>
        </p:nvSpPr>
        <p:spPr>
          <a:xfrm>
            <a:off x="8407400" y="4660900"/>
            <a:ext cx="279400" cy="2794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8" name="VT2"/>
          <p:cNvSpPr txBox="1"/>
          <p:nvPr/>
        </p:nvSpPr>
        <p:spPr>
          <a:xfrm>
            <a:off x="8788400" y="4521200"/>
            <a:ext cx="254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700" b="1" dirty="0">
                <a:solidFill>
                  <a:srgbClr val="B1063A"/>
                </a:solidFill>
              </a:rPr>
              <a:t>nicht in diesem Kontext</a:t>
            </a:r>
          </a:p>
        </p:txBody>
      </p:sp>
      <p:sp>
        <p:nvSpPr>
          <p:cNvPr id="109" name="Tools"/>
          <p:cNvSpPr txBox="1"/>
          <p:nvPr/>
        </p:nvSpPr>
        <p:spPr>
          <a:xfrm>
            <a:off x="762000" y="5283200"/>
            <a:ext cx="10668000" cy="762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177800" tIns="45720" rIns="177800" bIns="45720" anchor="ctr"/>
          <a:lstStyle/>
          <a:p>
            <a:pPr>
              <a:buNone/>
            </a:pPr>
            <a:r>
              <a:rPr lang="en-US" sz="1400" b="1" dirty="0">
                <a:solidFill>
                  <a:srgbClr val="3C3C3C"/>
                </a:solidFill>
              </a:rPr>
              <a:t>Hilfsmittel: </a:t>
            </a:r>
            <a:r>
              <a:rPr lang="en-US" sz="1400" dirty="0">
                <a:solidFill>
                  <a:srgbClr val="3C3C3C"/>
                </a:solidFill>
              </a:rPr>
              <a:t>offizielle Registry · MCP Inspector · </a:t>
            </a:r>
            <a:r>
              <a:rPr lang="en-US" sz="1400" dirty="0" err="1">
                <a:solidFill>
                  <a:srgbClr val="3C3C3C"/>
                </a:solidFill>
              </a:rPr>
              <a:t>mcp</a:t>
            </a:r>
            <a:r>
              <a:rPr lang="en-US" sz="1400" dirty="0">
                <a:solidFill>
                  <a:srgbClr val="3C3C3C"/>
                </a:solidFill>
              </a:rPr>
              <a:t>-scan </a:t>
            </a:r>
          </a:p>
          <a:p>
            <a:pPr>
              <a:buNone/>
            </a:pPr>
            <a:r>
              <a:rPr lang="en-US" sz="1400" b="1" dirty="0">
                <a:solidFill>
                  <a:srgbClr val="B1063A"/>
                </a:solidFill>
              </a:rPr>
              <a:t>Ein Eintrag ist keine Sicherheitszertifizierung.</a:t>
            </a:r>
          </a:p>
        </p:txBody>
      </p:sp>
    </p:spTree>
    <p:extLst>
      <p:ext uri="{BB962C8B-B14F-4D97-AF65-F5344CB8AC3E}">
        <p14:creationId xmlns:p14="http://schemas.microsoft.com/office/powerpoint/2010/main" val="3766904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D3A2C-D476-3A67-9FDD-DFAB536BB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Wie </a:t>
            </a:r>
            <a:r>
              <a:rPr lang="en-US" sz="3000" b="1" dirty="0" err="1">
                <a:solidFill>
                  <a:srgbClr val="B1063A"/>
                </a:solidFill>
              </a:rPr>
              <a:t>finde</a:t>
            </a:r>
            <a:r>
              <a:rPr lang="en-US" sz="3000" b="1" dirty="0">
                <a:solidFill>
                  <a:srgbClr val="B1063A"/>
                </a:solidFill>
              </a:rPr>
              <a:t> ich </a:t>
            </a:r>
            <a:r>
              <a:rPr lang="en-US" sz="3000" b="1" dirty="0" err="1">
                <a:solidFill>
                  <a:srgbClr val="B1063A"/>
                </a:solidFill>
              </a:rPr>
              <a:t>einen</a:t>
            </a:r>
            <a:r>
              <a:rPr lang="en-US" sz="3000" b="1" dirty="0">
                <a:solidFill>
                  <a:srgbClr val="B1063A"/>
                </a:solidFill>
              </a:rPr>
              <a:t> MCP Server?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1" name="Card0"/>
          <p:cNvSpPr txBox="1"/>
          <p:nvPr/>
        </p:nvSpPr>
        <p:spPr>
          <a:xfrm>
            <a:off x="762000" y="1574800"/>
            <a:ext cx="2489200" cy="3556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2" name="CardT0"/>
          <p:cNvSpPr txBox="1"/>
          <p:nvPr/>
        </p:nvSpPr>
        <p:spPr>
          <a:xfrm>
            <a:off x="914400" y="1778000"/>
            <a:ext cx="2184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500" b="1" dirty="0">
                <a:solidFill>
                  <a:srgbClr val="6E6E6E"/>
                </a:solidFill>
              </a:rPr>
              <a:t>Offizielle Registry</a:t>
            </a:r>
          </a:p>
        </p:txBody>
      </p:sp>
      <p:sp>
        <p:nvSpPr>
          <p:cNvPr id="103" name="CardM0"/>
          <p:cNvSpPr txBox="1"/>
          <p:nvPr/>
        </p:nvSpPr>
        <p:spPr>
          <a:xfrm>
            <a:off x="863600" y="2489200"/>
            <a:ext cx="2387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300" b="1" dirty="0">
                <a:solidFill>
                  <a:srgbClr val="B1063A"/>
                </a:solidFill>
              </a:rPr>
              <a:t>registry.modelcontextprotocol.io</a:t>
            </a:r>
          </a:p>
        </p:txBody>
      </p:sp>
      <p:sp>
        <p:nvSpPr>
          <p:cNvPr id="104" name="CardS0"/>
          <p:cNvSpPr txBox="1"/>
          <p:nvPr/>
        </p:nvSpPr>
        <p:spPr>
          <a:xfrm>
            <a:off x="914400" y="4191000"/>
            <a:ext cx="2184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300" dirty="0" err="1">
                <a:solidFill>
                  <a:srgbClr val="3C3C3C"/>
                </a:solidFill>
              </a:rPr>
              <a:t>gepflegt</a:t>
            </a:r>
            <a:r>
              <a:rPr lang="en-US" sz="1300" dirty="0">
                <a:solidFill>
                  <a:srgbClr val="3C3C3C"/>
                </a:solidFill>
              </a:rPr>
              <a:t> </a:t>
            </a:r>
            <a:r>
              <a:rPr lang="en-US" sz="1300" dirty="0" err="1">
                <a:solidFill>
                  <a:srgbClr val="3C3C3C"/>
                </a:solidFill>
              </a:rPr>
              <a:t>vom</a:t>
            </a:r>
            <a:r>
              <a:rPr lang="en-US" sz="1300" dirty="0">
                <a:solidFill>
                  <a:srgbClr val="3C3C3C"/>
                </a:solidFill>
              </a:rPr>
              <a:t> MCP-Projekt,</a:t>
            </a:r>
          </a:p>
          <a:p>
            <a:pPr>
              <a:buNone/>
            </a:pPr>
            <a:r>
              <a:rPr lang="en-US" sz="1300" dirty="0">
                <a:solidFill>
                  <a:srgbClr val="3C3C3C"/>
                </a:solidFill>
              </a:rPr>
              <a:t>(</a:t>
            </a:r>
            <a:r>
              <a:rPr lang="en-US" sz="1300" dirty="0" err="1">
                <a:solidFill>
                  <a:srgbClr val="3C3C3C"/>
                </a:solidFill>
              </a:rPr>
              <a:t>Unübersichtlich</a:t>
            </a:r>
            <a:r>
              <a:rPr lang="en-US" sz="1300" dirty="0">
                <a:solidFill>
                  <a:srgbClr val="3C3C3C"/>
                </a:solidFill>
              </a:rPr>
              <a:t>)</a:t>
            </a:r>
          </a:p>
        </p:txBody>
      </p:sp>
      <p:sp>
        <p:nvSpPr>
          <p:cNvPr id="105" name="Card1"/>
          <p:cNvSpPr txBox="1"/>
          <p:nvPr/>
        </p:nvSpPr>
        <p:spPr>
          <a:xfrm>
            <a:off x="3454400" y="1574800"/>
            <a:ext cx="2489200" cy="3556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6" name="CardT1"/>
          <p:cNvSpPr txBox="1"/>
          <p:nvPr/>
        </p:nvSpPr>
        <p:spPr>
          <a:xfrm>
            <a:off x="3606800" y="1778000"/>
            <a:ext cx="2184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500" b="1" dirty="0">
                <a:solidFill>
                  <a:srgbClr val="6E6E6E"/>
                </a:solidFill>
              </a:rPr>
              <a:t>Große Kataloge</a:t>
            </a:r>
          </a:p>
        </p:txBody>
      </p:sp>
      <p:sp>
        <p:nvSpPr>
          <p:cNvPr id="107" name="CardM1"/>
          <p:cNvSpPr txBox="1"/>
          <p:nvPr/>
        </p:nvSpPr>
        <p:spPr>
          <a:xfrm>
            <a:off x="3556000" y="2489200"/>
            <a:ext cx="2387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 err="1">
                <a:solidFill>
                  <a:srgbClr val="B1063A"/>
                </a:solidFill>
              </a:rPr>
              <a:t>pulsemcp.com</a:t>
            </a:r>
            <a:r>
              <a:rPr lang="en-US" sz="1300" b="1" dirty="0">
                <a:solidFill>
                  <a:srgbClr val="B1063A"/>
                </a:solidFill>
              </a:rPr>
              <a:t> (+ use cases)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 err="1">
                <a:solidFill>
                  <a:srgbClr val="B1063A"/>
                </a:solidFill>
              </a:rPr>
              <a:t>github.com</a:t>
            </a:r>
            <a:r>
              <a:rPr lang="en-US" sz="1300" b="1" dirty="0">
                <a:solidFill>
                  <a:srgbClr val="B1063A"/>
                </a:solidFill>
              </a:rPr>
              <a:t>/</a:t>
            </a:r>
            <a:r>
              <a:rPr lang="en-US" sz="1300" b="1" dirty="0" err="1">
                <a:solidFill>
                  <a:srgbClr val="B1063A"/>
                </a:solidFill>
              </a:rPr>
              <a:t>mcp</a:t>
            </a:r>
            <a:r>
              <a:rPr lang="en-US" sz="1300" b="1" dirty="0">
                <a:solidFill>
                  <a:srgbClr val="B1063A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 err="1">
                <a:solidFill>
                  <a:srgbClr val="B1063A"/>
                </a:solidFill>
              </a:rPr>
              <a:t>mcpservers.org</a:t>
            </a:r>
            <a:r>
              <a:rPr lang="en-US" sz="1300" b="1" dirty="0">
                <a:solidFill>
                  <a:srgbClr val="B1063A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 err="1">
                <a:solidFill>
                  <a:srgbClr val="B1063A"/>
                </a:solidFill>
              </a:rPr>
              <a:t>smithery.ai</a:t>
            </a:r>
            <a:endParaRPr lang="en-US" sz="1300" b="1" dirty="0">
              <a:solidFill>
                <a:srgbClr val="B1063A"/>
              </a:solidFill>
            </a:endParaRPr>
          </a:p>
        </p:txBody>
      </p:sp>
      <p:sp>
        <p:nvSpPr>
          <p:cNvPr id="108" name="CardS1"/>
          <p:cNvSpPr txBox="1"/>
          <p:nvPr/>
        </p:nvSpPr>
        <p:spPr>
          <a:xfrm>
            <a:off x="3606800" y="4191000"/>
            <a:ext cx="2184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300" dirty="0">
                <a:solidFill>
                  <a:srgbClr val="3C3C3C"/>
                </a:solidFill>
              </a:rPr>
              <a:t>nach Anbieter, Kategorie und Beliebtheit stöbern</a:t>
            </a:r>
          </a:p>
        </p:txBody>
      </p:sp>
      <p:sp>
        <p:nvSpPr>
          <p:cNvPr id="109" name="Card2"/>
          <p:cNvSpPr txBox="1"/>
          <p:nvPr/>
        </p:nvSpPr>
        <p:spPr>
          <a:xfrm>
            <a:off x="6146800" y="1574800"/>
            <a:ext cx="2489200" cy="3556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10" name="CardT2"/>
          <p:cNvSpPr txBox="1"/>
          <p:nvPr/>
        </p:nvSpPr>
        <p:spPr>
          <a:xfrm>
            <a:off x="6299200" y="1778000"/>
            <a:ext cx="2184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500" b="1" dirty="0" err="1">
                <a:solidFill>
                  <a:srgbClr val="6E6E6E"/>
                </a:solidFill>
              </a:rPr>
              <a:t>Kataloge</a:t>
            </a:r>
            <a:r>
              <a:rPr lang="en-US" sz="1500" b="1" dirty="0">
                <a:solidFill>
                  <a:srgbClr val="6E6E6E"/>
                </a:solidFill>
              </a:rPr>
              <a:t> mit Sicherheitsbewertungen</a:t>
            </a:r>
          </a:p>
        </p:txBody>
      </p:sp>
      <p:sp>
        <p:nvSpPr>
          <p:cNvPr id="111" name="CardM2"/>
          <p:cNvSpPr txBox="1"/>
          <p:nvPr/>
        </p:nvSpPr>
        <p:spPr>
          <a:xfrm>
            <a:off x="6248400" y="2489200"/>
            <a:ext cx="2387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 err="1">
                <a:solidFill>
                  <a:srgbClr val="B1063A"/>
                </a:solidFill>
              </a:rPr>
              <a:t>mcpsafe.org</a:t>
            </a:r>
            <a:endParaRPr lang="en-US" sz="1300" b="1" dirty="0">
              <a:solidFill>
                <a:srgbClr val="B1063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 err="1">
                <a:solidFill>
                  <a:srgbClr val="B1063A"/>
                </a:solidFill>
              </a:rPr>
              <a:t>mcprisk.org</a:t>
            </a:r>
            <a:endParaRPr lang="en-US" sz="1300" b="1" dirty="0">
              <a:solidFill>
                <a:srgbClr val="B1063A"/>
              </a:solidFill>
            </a:endParaRPr>
          </a:p>
        </p:txBody>
      </p:sp>
      <p:sp>
        <p:nvSpPr>
          <p:cNvPr id="113" name="Card3"/>
          <p:cNvSpPr txBox="1"/>
          <p:nvPr/>
        </p:nvSpPr>
        <p:spPr>
          <a:xfrm>
            <a:off x="8839200" y="1574800"/>
            <a:ext cx="2489200" cy="3556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14" name="CardT3"/>
          <p:cNvSpPr txBox="1"/>
          <p:nvPr/>
        </p:nvSpPr>
        <p:spPr>
          <a:xfrm>
            <a:off x="8991600" y="1778000"/>
            <a:ext cx="2184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500" b="1" dirty="0">
                <a:solidFill>
                  <a:srgbClr val="6E6E6E"/>
                </a:solidFill>
              </a:rPr>
              <a:t>Offizielle Anbieter-Server</a:t>
            </a:r>
          </a:p>
        </p:txBody>
      </p:sp>
      <p:sp>
        <p:nvSpPr>
          <p:cNvPr id="115" name="CardM3"/>
          <p:cNvSpPr txBox="1"/>
          <p:nvPr/>
        </p:nvSpPr>
        <p:spPr>
          <a:xfrm>
            <a:off x="8940800" y="2489200"/>
            <a:ext cx="2387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B1063A"/>
                </a:solidFill>
              </a:rPr>
              <a:t>Google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B1063A"/>
                </a:solidFill>
              </a:rPr>
              <a:t>Notion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B1063A"/>
                </a:solidFill>
              </a:rPr>
              <a:t>Figma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B1063A"/>
                </a:solidFill>
              </a:rPr>
              <a:t>Scalable Capital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B1063A"/>
                </a:solidFill>
              </a:rPr>
              <a:t>…</a:t>
            </a:r>
          </a:p>
        </p:txBody>
      </p:sp>
      <p:sp>
        <p:nvSpPr>
          <p:cNvPr id="116" name="CardS3"/>
          <p:cNvSpPr txBox="1"/>
          <p:nvPr/>
        </p:nvSpPr>
        <p:spPr>
          <a:xfrm>
            <a:off x="8991600" y="4191000"/>
            <a:ext cx="2184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300" dirty="0">
                <a:solidFill>
                  <a:srgbClr val="3C3C3C"/>
                </a:solidFill>
              </a:rPr>
              <a:t>Anbieter liefern zunehmend eigene Server</a:t>
            </a:r>
          </a:p>
        </p:txBody>
      </p:sp>
      <p:sp>
        <p:nvSpPr>
          <p:cNvPr id="117" name="Headline"/>
          <p:cNvSpPr txBox="1"/>
          <p:nvPr/>
        </p:nvSpPr>
        <p:spPr>
          <a:xfrm>
            <a:off x="762000" y="546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2000" b="1" dirty="0">
                <a:solidFill>
                  <a:srgbClr val="1A1A1A"/>
                </a:solidFill>
              </a:rPr>
              <a:t>Erste Frage bei jedem Use Case: </a:t>
            </a:r>
            <a:r>
              <a:rPr lang="en-US" sz="2000" b="1" dirty="0" err="1">
                <a:solidFill>
                  <a:srgbClr val="1A1A1A"/>
                </a:solidFill>
              </a:rPr>
              <a:t>Existiert</a:t>
            </a:r>
            <a:r>
              <a:rPr lang="en-US" sz="2000" b="1" dirty="0">
                <a:solidFill>
                  <a:srgbClr val="1A1A1A"/>
                </a:solidFill>
              </a:rPr>
              <a:t> </a:t>
            </a:r>
            <a:r>
              <a:rPr lang="en-US" sz="2000" b="1" dirty="0" err="1">
                <a:solidFill>
                  <a:srgbClr val="1A1A1A"/>
                </a:solidFill>
              </a:rPr>
              <a:t>ein</a:t>
            </a:r>
            <a:r>
              <a:rPr lang="en-US" sz="2000" b="1" dirty="0">
                <a:solidFill>
                  <a:srgbClr val="1A1A1A"/>
                </a:solidFill>
              </a:rPr>
              <a:t> </a:t>
            </a:r>
            <a:r>
              <a:rPr lang="en-US" sz="2000" b="1" dirty="0" err="1">
                <a:solidFill>
                  <a:srgbClr val="1A1A1A"/>
                </a:solidFill>
              </a:rPr>
              <a:t>offizieller</a:t>
            </a:r>
            <a:r>
              <a:rPr lang="en-US" sz="2000" b="1" dirty="0">
                <a:solidFill>
                  <a:srgbClr val="1A1A1A"/>
                </a:solidFill>
              </a:rPr>
              <a:t> Server?</a:t>
            </a:r>
          </a:p>
        </p:txBody>
      </p:sp>
    </p:spTree>
    <p:extLst>
      <p:ext uri="{BB962C8B-B14F-4D97-AF65-F5344CB8AC3E}">
        <p14:creationId xmlns:p14="http://schemas.microsoft.com/office/powerpoint/2010/main" val="2336149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304DF-680A-45E3-D82C-DACFB0008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EC3C2-D40E-AC39-2EDD-82433D7B0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Demo: Connect Claude with Gmail and Google Calendar</a:t>
            </a:r>
          </a:p>
        </p:txBody>
      </p:sp>
      <p:sp>
        <p:nvSpPr>
          <p:cNvPr id="100" name="Rule">
            <a:extLst>
              <a:ext uri="{FF2B5EF4-FFF2-40B4-BE49-F238E27FC236}">
                <a16:creationId xmlns:a16="http://schemas.microsoft.com/office/drawing/2014/main" id="{EA8EBFE3-9E1B-FEEA-000D-253FF9CCA6C1}"/>
              </a:ext>
            </a:extLst>
          </p:cNvPr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1" name="Mail">
            <a:extLst>
              <a:ext uri="{FF2B5EF4-FFF2-40B4-BE49-F238E27FC236}">
                <a16:creationId xmlns:a16="http://schemas.microsoft.com/office/drawing/2014/main" id="{99DA2B6F-DBE4-98C4-0D28-658FBFDD5647}"/>
              </a:ext>
            </a:extLst>
          </p:cNvPr>
          <p:cNvSpPr txBox="1"/>
          <p:nvPr/>
        </p:nvSpPr>
        <p:spPr>
          <a:xfrm>
            <a:off x="762000" y="2794000"/>
            <a:ext cx="16510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3C3C3C"/>
                </a:solidFill>
              </a:rPr>
              <a:t>Neue E-Mail</a:t>
            </a:r>
          </a:p>
          <a:p>
            <a:pPr algn="ctr">
              <a:buNone/>
            </a:pPr>
            <a:r>
              <a:rPr lang="en-US" sz="1200" dirty="0">
                <a:solidFill>
                  <a:srgbClr val="6E6E6E"/>
                </a:solidFill>
                <a:hlinkClick r:id="rId3"/>
              </a:rPr>
              <a:t>test@gmail.com</a:t>
            </a:r>
            <a:r>
              <a:rPr lang="en-US" sz="1200" dirty="0">
                <a:solidFill>
                  <a:srgbClr val="6E6E6E"/>
                </a:solidFill>
              </a:rPr>
              <a:t> Inbox</a:t>
            </a:r>
          </a:p>
        </p:txBody>
      </p:sp>
      <p:cxnSp>
        <p:nvCxnSpPr>
          <p:cNvPr id="102" name="Arrow 102">
            <a:extLst>
              <a:ext uri="{FF2B5EF4-FFF2-40B4-BE49-F238E27FC236}">
                <a16:creationId xmlns:a16="http://schemas.microsoft.com/office/drawing/2014/main" id="{A1737730-9A65-7B92-C1C3-C30A92DF38A4}"/>
              </a:ext>
            </a:extLst>
          </p:cNvPr>
          <p:cNvCxnSpPr/>
          <p:nvPr/>
        </p:nvCxnSpPr>
        <p:spPr>
          <a:xfrm>
            <a:off x="2413000" y="3238500"/>
            <a:ext cx="457200" cy="0"/>
          </a:xfrm>
          <a:prstGeom prst="straightConnector1">
            <a:avLst/>
          </a:prstGeom>
          <a:ln w="19050">
            <a:solidFill>
              <a:srgbClr val="6E6E6E"/>
            </a:solidFill>
            <a:tailEnd type="triangle"/>
          </a:ln>
        </p:spPr>
      </p:cxnSp>
      <p:sp>
        <p:nvSpPr>
          <p:cNvPr id="103" name="Model">
            <a:extLst>
              <a:ext uri="{FF2B5EF4-FFF2-40B4-BE49-F238E27FC236}">
                <a16:creationId xmlns:a16="http://schemas.microsoft.com/office/drawing/2014/main" id="{3BA60926-568F-7E5C-5264-BDB37F5D4677}"/>
              </a:ext>
            </a:extLst>
          </p:cNvPr>
          <p:cNvSpPr txBox="1"/>
          <p:nvPr/>
        </p:nvSpPr>
        <p:spPr>
          <a:xfrm>
            <a:off x="2870200" y="2794000"/>
            <a:ext cx="1905000" cy="889000"/>
          </a:xfrm>
          <a:prstGeom prst="roundRect">
            <a:avLst/>
          </a:prstGeom>
          <a:solidFill>
            <a:srgbClr val="1F5FA9"/>
          </a:solidFill>
          <a:ln w="12700">
            <a:solidFill>
              <a:srgbClr val="1F5FA9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Das Model liest sie</a:t>
            </a:r>
          </a:p>
          <a:p>
            <a:pPr algn="ctr">
              <a:buNone/>
            </a:pPr>
            <a:r>
              <a:rPr lang="en-US" sz="1200" dirty="0">
                <a:solidFill>
                  <a:srgbClr val="DCE6F5"/>
                </a:solidFill>
              </a:rPr>
              <a:t>entscheidet pro Mail</a:t>
            </a:r>
          </a:p>
        </p:txBody>
      </p:sp>
      <p:cxnSp>
        <p:nvCxnSpPr>
          <p:cNvPr id="104" name="Arrow 104">
            <a:extLst>
              <a:ext uri="{FF2B5EF4-FFF2-40B4-BE49-F238E27FC236}">
                <a16:creationId xmlns:a16="http://schemas.microsoft.com/office/drawing/2014/main" id="{1613E9F9-6BB7-0D60-5821-5FC10E5988CD}"/>
              </a:ext>
            </a:extLst>
          </p:cNvPr>
          <p:cNvCxnSpPr/>
          <p:nvPr/>
        </p:nvCxnSpPr>
        <p:spPr>
          <a:xfrm flipV="1">
            <a:off x="4775200" y="2159000"/>
            <a:ext cx="558800" cy="889000"/>
          </a:xfrm>
          <a:prstGeom prst="straightConnector1">
            <a:avLst/>
          </a:prstGeom>
          <a:ln w="19050">
            <a:solidFill>
              <a:srgbClr val="1F5FA9"/>
            </a:solidFill>
            <a:tailEnd type="triangle"/>
          </a:ln>
        </p:spPr>
      </p:cxnSp>
      <p:cxnSp>
        <p:nvCxnSpPr>
          <p:cNvPr id="105" name="Arrow 105">
            <a:extLst>
              <a:ext uri="{FF2B5EF4-FFF2-40B4-BE49-F238E27FC236}">
                <a16:creationId xmlns:a16="http://schemas.microsoft.com/office/drawing/2014/main" id="{91EEF82D-4A38-0D64-47E5-025DEB1D9732}"/>
              </a:ext>
            </a:extLst>
          </p:cNvPr>
          <p:cNvCxnSpPr/>
          <p:nvPr/>
        </p:nvCxnSpPr>
        <p:spPr>
          <a:xfrm>
            <a:off x="4775200" y="3429000"/>
            <a:ext cx="558800" cy="635000"/>
          </a:xfrm>
          <a:prstGeom prst="straightConnector1">
            <a:avLst/>
          </a:prstGeom>
          <a:ln w="19050">
            <a:solidFill>
              <a:srgbClr val="1F5FA9"/>
            </a:solidFill>
            <a:tailEnd type="triangle"/>
          </a:ln>
        </p:spPr>
      </p:cxnSp>
      <p:sp>
        <p:nvSpPr>
          <p:cNvPr id="106" name="FAQ">
            <a:extLst>
              <a:ext uri="{FF2B5EF4-FFF2-40B4-BE49-F238E27FC236}">
                <a16:creationId xmlns:a16="http://schemas.microsoft.com/office/drawing/2014/main" id="{EDE3BD91-6823-0570-EE35-4309F0B8BA7F}"/>
              </a:ext>
            </a:extLst>
          </p:cNvPr>
          <p:cNvSpPr txBox="1"/>
          <p:nvPr/>
        </p:nvSpPr>
        <p:spPr>
          <a:xfrm>
            <a:off x="5334000" y="1778000"/>
            <a:ext cx="19050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3C3C3C"/>
                </a:solidFill>
              </a:rPr>
              <a:t>FAQ (</a:t>
            </a:r>
            <a:r>
              <a:rPr lang="en-US" sz="1500" b="1" dirty="0" err="1">
                <a:solidFill>
                  <a:srgbClr val="3C3C3C"/>
                </a:solidFill>
              </a:rPr>
              <a:t>Datenbank</a:t>
            </a:r>
            <a:r>
              <a:rPr lang="en-US" sz="1500" b="1" dirty="0">
                <a:solidFill>
                  <a:srgbClr val="3C3C3C"/>
                </a:solidFill>
              </a:rPr>
              <a:t>) </a:t>
            </a:r>
          </a:p>
          <a:p>
            <a:pPr algn="ctr">
              <a:buNone/>
            </a:pPr>
            <a:r>
              <a:rPr lang="en-US" sz="1200" dirty="0">
                <a:solidFill>
                  <a:srgbClr val="6E6E6E"/>
                </a:solidFill>
              </a:rPr>
              <a:t>ein Tool, das es aufrufen kann</a:t>
            </a:r>
          </a:p>
        </p:txBody>
      </p:sp>
      <p:sp>
        <p:nvSpPr>
          <p:cNvPr id="107" name="Cal">
            <a:extLst>
              <a:ext uri="{FF2B5EF4-FFF2-40B4-BE49-F238E27FC236}">
                <a16:creationId xmlns:a16="http://schemas.microsoft.com/office/drawing/2014/main" id="{30A037D2-462E-A5BA-D7E3-9B5D559109A7}"/>
              </a:ext>
            </a:extLst>
          </p:cNvPr>
          <p:cNvSpPr txBox="1"/>
          <p:nvPr/>
        </p:nvSpPr>
        <p:spPr>
          <a:xfrm>
            <a:off x="5334000" y="3683000"/>
            <a:ext cx="19050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3C3C3C"/>
                </a:solidFill>
              </a:rPr>
              <a:t>Kalender</a:t>
            </a:r>
          </a:p>
          <a:p>
            <a:pPr algn="ctr">
              <a:buNone/>
            </a:pPr>
            <a:r>
              <a:rPr lang="en-US" sz="1200" dirty="0">
                <a:solidFill>
                  <a:srgbClr val="6E6E6E"/>
                </a:solidFill>
              </a:rPr>
              <a:t>ein Tool, das es aufrufen kann</a:t>
            </a:r>
          </a:p>
        </p:txBody>
      </p:sp>
      <p:cxnSp>
        <p:nvCxnSpPr>
          <p:cNvPr id="108" name="Arrow 108">
            <a:extLst>
              <a:ext uri="{FF2B5EF4-FFF2-40B4-BE49-F238E27FC236}">
                <a16:creationId xmlns:a16="http://schemas.microsoft.com/office/drawing/2014/main" id="{E5BC2222-0565-0679-AE10-E89B6E1BD75D}"/>
              </a:ext>
            </a:extLst>
          </p:cNvPr>
          <p:cNvCxnSpPr/>
          <p:nvPr/>
        </p:nvCxnSpPr>
        <p:spPr>
          <a:xfrm>
            <a:off x="7239000" y="2159000"/>
            <a:ext cx="558800" cy="889000"/>
          </a:xfrm>
          <a:prstGeom prst="straightConnector1">
            <a:avLst/>
          </a:prstGeom>
          <a:ln w="19050">
            <a:solidFill>
              <a:srgbClr val="1F5FA9"/>
            </a:solidFill>
            <a:tailEnd type="triangle"/>
          </a:ln>
        </p:spPr>
      </p:cxnSp>
      <p:cxnSp>
        <p:nvCxnSpPr>
          <p:cNvPr id="109" name="Arrow 109">
            <a:extLst>
              <a:ext uri="{FF2B5EF4-FFF2-40B4-BE49-F238E27FC236}">
                <a16:creationId xmlns:a16="http://schemas.microsoft.com/office/drawing/2014/main" id="{4E8E4F92-00E0-6996-D73C-425AF0E017DD}"/>
              </a:ext>
            </a:extLst>
          </p:cNvPr>
          <p:cNvCxnSpPr/>
          <p:nvPr/>
        </p:nvCxnSpPr>
        <p:spPr>
          <a:xfrm flipV="1">
            <a:off x="7239000" y="3429000"/>
            <a:ext cx="558800" cy="635000"/>
          </a:xfrm>
          <a:prstGeom prst="straightConnector1">
            <a:avLst/>
          </a:prstGeom>
          <a:ln w="19050">
            <a:solidFill>
              <a:srgbClr val="1F5FA9"/>
            </a:solidFill>
            <a:tailEnd type="triangle"/>
          </a:ln>
        </p:spPr>
      </p:cxnSp>
      <p:sp>
        <p:nvSpPr>
          <p:cNvPr id="110" name="Draft">
            <a:extLst>
              <a:ext uri="{FF2B5EF4-FFF2-40B4-BE49-F238E27FC236}">
                <a16:creationId xmlns:a16="http://schemas.microsoft.com/office/drawing/2014/main" id="{D0F8627D-254E-74AC-6AED-479935E8EE65}"/>
              </a:ext>
            </a:extLst>
          </p:cNvPr>
          <p:cNvSpPr txBox="1"/>
          <p:nvPr/>
        </p:nvSpPr>
        <p:spPr>
          <a:xfrm>
            <a:off x="7797800" y="2794000"/>
            <a:ext cx="16510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3C3C3C"/>
                </a:solidFill>
              </a:rPr>
              <a:t>Entwirft eine Antwort</a:t>
            </a:r>
          </a:p>
          <a:p>
            <a:pPr algn="ctr">
              <a:buNone/>
            </a:pPr>
            <a:r>
              <a:rPr lang="en-US" sz="1200" dirty="0">
                <a:solidFill>
                  <a:srgbClr val="6E6E6E"/>
                </a:solidFill>
              </a:rPr>
              <a:t>sendet nie selbst</a:t>
            </a:r>
          </a:p>
        </p:txBody>
      </p:sp>
      <p:cxnSp>
        <p:nvCxnSpPr>
          <p:cNvPr id="111" name="Arrow 111">
            <a:extLst>
              <a:ext uri="{FF2B5EF4-FFF2-40B4-BE49-F238E27FC236}">
                <a16:creationId xmlns:a16="http://schemas.microsoft.com/office/drawing/2014/main" id="{DDE383F2-3CDB-02B0-2B05-BF011858FB0C}"/>
              </a:ext>
            </a:extLst>
          </p:cNvPr>
          <p:cNvCxnSpPr/>
          <p:nvPr/>
        </p:nvCxnSpPr>
        <p:spPr>
          <a:xfrm>
            <a:off x="9448800" y="3238500"/>
            <a:ext cx="457200" cy="0"/>
          </a:xfrm>
          <a:prstGeom prst="straightConnector1">
            <a:avLst/>
          </a:prstGeom>
          <a:ln w="19050">
            <a:solidFill>
              <a:srgbClr val="6E6E6E"/>
            </a:solidFill>
            <a:tailEnd type="triangle"/>
          </a:ln>
        </p:spPr>
      </p:cxnSp>
      <p:sp>
        <p:nvSpPr>
          <p:cNvPr id="112" name="Human">
            <a:extLst>
              <a:ext uri="{FF2B5EF4-FFF2-40B4-BE49-F238E27FC236}">
                <a16:creationId xmlns:a16="http://schemas.microsoft.com/office/drawing/2014/main" id="{9911F473-2085-1C10-25B9-954844E610CB}"/>
              </a:ext>
            </a:extLst>
          </p:cNvPr>
          <p:cNvSpPr txBox="1"/>
          <p:nvPr/>
        </p:nvSpPr>
        <p:spPr>
          <a:xfrm>
            <a:off x="9906000" y="2794000"/>
            <a:ext cx="1524000" cy="889000"/>
          </a:xfrm>
          <a:prstGeom prst="roundRect">
            <a:avLst/>
          </a:prstGeom>
          <a:solidFill>
            <a:srgbClr val="FBE9EF"/>
          </a:solidFill>
          <a:ln w="12700">
            <a:solidFill>
              <a:srgbClr val="B1063A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B1063A"/>
                </a:solidFill>
              </a:rPr>
              <a:t>Ein Mensch prüft &amp; sendet</a:t>
            </a:r>
          </a:p>
        </p:txBody>
      </p:sp>
      <p:sp>
        <p:nvSpPr>
          <p:cNvPr id="113" name="or">
            <a:extLst>
              <a:ext uri="{FF2B5EF4-FFF2-40B4-BE49-F238E27FC236}">
                <a16:creationId xmlns:a16="http://schemas.microsoft.com/office/drawing/2014/main" id="{2E371764-A886-47F9-D990-596144818BCE}"/>
              </a:ext>
            </a:extLst>
          </p:cNvPr>
          <p:cNvSpPr txBox="1"/>
          <p:nvPr/>
        </p:nvSpPr>
        <p:spPr>
          <a:xfrm>
            <a:off x="5232400" y="2892898"/>
            <a:ext cx="1835285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200" dirty="0">
                <a:solidFill>
                  <a:srgbClr val="1F5FA9"/>
                </a:solidFill>
              </a:rPr>
              <a:t>tool call loop</a:t>
            </a:r>
          </a:p>
        </p:txBody>
      </p:sp>
      <p:sp>
        <p:nvSpPr>
          <p:cNvPr id="3" name="Curved Left Arrow 2">
            <a:extLst>
              <a:ext uri="{FF2B5EF4-FFF2-40B4-BE49-F238E27FC236}">
                <a16:creationId xmlns:a16="http://schemas.microsoft.com/office/drawing/2014/main" id="{FC3F4EC8-D4A4-010F-FBDE-DD8B9CFE2482}"/>
              </a:ext>
            </a:extLst>
          </p:cNvPr>
          <p:cNvSpPr/>
          <p:nvPr/>
        </p:nvSpPr>
        <p:spPr>
          <a:xfrm rot="16200000">
            <a:off x="5995210" y="1874466"/>
            <a:ext cx="379379" cy="1904999"/>
          </a:xfrm>
          <a:prstGeom prst="curvedLef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Curved Left Arrow 3">
            <a:extLst>
              <a:ext uri="{FF2B5EF4-FFF2-40B4-BE49-F238E27FC236}">
                <a16:creationId xmlns:a16="http://schemas.microsoft.com/office/drawing/2014/main" id="{753FB33B-1FD9-B4F3-8E76-B9523E2D7002}"/>
              </a:ext>
            </a:extLst>
          </p:cNvPr>
          <p:cNvSpPr/>
          <p:nvPr/>
        </p:nvSpPr>
        <p:spPr>
          <a:xfrm rot="5400000">
            <a:off x="5969811" y="2487309"/>
            <a:ext cx="379379" cy="1904999"/>
          </a:xfrm>
          <a:prstGeom prst="curvedLef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29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F0031-1235-5D21-8AB5-3C63A1B6E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Demo · Schritt 1: Server finden und bewerten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4" name="Side"/>
          <p:cNvSpPr txBox="1"/>
          <p:nvPr/>
        </p:nvSpPr>
        <p:spPr>
          <a:xfrm>
            <a:off x="7772400" y="1473200"/>
            <a:ext cx="3657600" cy="4191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177800" tIns="45720" rIns="177800" bIns="45720" anchor="t"/>
          <a:lstStyle/>
          <a:p>
            <a:pPr>
              <a:buNone/>
            </a:pPr>
            <a:r>
              <a:rPr lang="en-US" sz="1400" b="1" dirty="0">
                <a:solidFill>
                  <a:srgbClr val="B1063A"/>
                </a:solidFill>
              </a:rPr>
              <a:t>Worauf achten</a:t>
            </a:r>
          </a:p>
          <a:p>
            <a:pPr>
              <a:spcBef>
                <a:spcPts val="12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Wer hat ihn gebaut?</a:t>
            </a:r>
          </a:p>
          <a:p>
            <a:pPr>
              <a:buNone/>
            </a:pPr>
            <a:r>
              <a:rPr lang="en-US" sz="1400" dirty="0">
                <a:solidFill>
                  <a:srgbClr val="6E6E6E"/>
                </a:solidFill>
              </a:rPr>
              <a:t>Checkliste F1</a:t>
            </a:r>
          </a:p>
          <a:p>
            <a:pPr>
              <a:spcBef>
                <a:spcPts val="12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Was kann er in Ihrem Namen tun?</a:t>
            </a:r>
          </a:p>
          <a:p>
            <a:pPr>
              <a:buNone/>
            </a:pPr>
            <a:r>
              <a:rPr lang="en-US" sz="1400" dirty="0" err="1">
                <a:solidFill>
                  <a:srgbClr val="6E6E6E"/>
                </a:solidFill>
              </a:rPr>
              <a:t>Checkliste</a:t>
            </a:r>
            <a:r>
              <a:rPr lang="en-US" sz="1400" dirty="0">
                <a:solidFill>
                  <a:srgbClr val="6E6E6E"/>
                </a:solidFill>
              </a:rPr>
              <a:t> F2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B4263B-2268-2932-3A52-B96E1389D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1358900"/>
            <a:ext cx="5940350" cy="515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790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4831-0C8B-5F6A-9E76-CE69B5B12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Demo · Schritt 2: Mit Least Privilege verbinden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1" name="LblA"/>
          <p:cNvSpPr txBox="1"/>
          <p:nvPr/>
        </p:nvSpPr>
        <p:spPr>
          <a:xfrm>
            <a:off x="762000" y="14732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6E6E6E"/>
                </a:solidFill>
              </a:rPr>
              <a:t>A · Gmail-Berechtigungsdialog</a:t>
            </a:r>
          </a:p>
        </p:txBody>
      </p:sp>
      <p:sp>
        <p:nvSpPr>
          <p:cNvPr id="104" name="LblB"/>
          <p:cNvSpPr txBox="1"/>
          <p:nvPr/>
        </p:nvSpPr>
        <p:spPr>
          <a:xfrm>
            <a:off x="6350000" y="14732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6E6E6E"/>
                </a:solidFill>
              </a:rPr>
              <a:t>B · Google-Kalender-Berechtigungsdialog</a:t>
            </a:r>
          </a:p>
        </p:txBody>
      </p:sp>
      <p:sp>
        <p:nvSpPr>
          <p:cNvPr id="107" name="Caption"/>
          <p:cNvSpPr txBox="1"/>
          <p:nvPr/>
        </p:nvSpPr>
        <p:spPr>
          <a:xfrm>
            <a:off x="762000" y="5664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Nur gewähren, was die Aufgabe braucht. Gmail: lesen + entwerfen. Kalender: nur lesen.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F50A85-F046-F2B8-651B-916A709D5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607" y="1778000"/>
            <a:ext cx="4472538" cy="3835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C446D8-1CEC-A9E2-9CB5-B160CB4E5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55" y="1778000"/>
            <a:ext cx="4720493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146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9E976-E223-FFDB-E91E-8B514418E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r>
              <a:rPr lang="en-US" sz="3000" dirty="0">
                <a:solidFill>
                  <a:srgbClr val="B1063A"/>
                </a:solidFill>
              </a:rPr>
              <a:t>Demo · Schritt 3: Testen</a:t>
            </a:r>
            <a:endParaRPr lang="en-US" sz="3000" b="1" dirty="0">
              <a:solidFill>
                <a:srgbClr val="B1063A"/>
              </a:solidFill>
            </a:endParaRP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4" name="Side"/>
          <p:cNvSpPr txBox="1"/>
          <p:nvPr/>
        </p:nvSpPr>
        <p:spPr>
          <a:xfrm>
            <a:off x="8158480" y="1545696"/>
            <a:ext cx="3657600" cy="4191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177800" tIns="45720" rIns="177800" bIns="45720" anchor="t"/>
          <a:lstStyle/>
          <a:p>
            <a:pPr>
              <a:spcBef>
                <a:spcPts val="1200"/>
              </a:spcBef>
              <a:buNone/>
            </a:pPr>
            <a:r>
              <a:rPr lang="en-US" sz="1600" b="1" dirty="0" err="1">
                <a:solidFill>
                  <a:srgbClr val="1A1A1A"/>
                </a:solidFill>
              </a:rPr>
              <a:t>Ungelesene</a:t>
            </a:r>
            <a:r>
              <a:rPr lang="en-US" sz="1600" b="1" dirty="0">
                <a:solidFill>
                  <a:srgbClr val="1A1A1A"/>
                </a:solidFill>
              </a:rPr>
              <a:t> Mails -&gt; Agent</a:t>
            </a:r>
          </a:p>
          <a:p>
            <a:pPr marL="285750" indent="-285750">
              <a:spcBef>
                <a:spcPts val="800"/>
              </a:spcBef>
              <a:buClr>
                <a:srgbClr val="B1063A"/>
              </a:buClr>
              <a:buFont typeface="Arial"/>
              <a:buChar char="•"/>
            </a:pPr>
            <a:r>
              <a:rPr lang="en-US" sz="1400" dirty="0">
                <a:solidFill>
                  <a:srgbClr val="3C3C3C"/>
                </a:solidFill>
              </a:rPr>
              <a:t>Frage → FAQ-Antwort</a:t>
            </a:r>
          </a:p>
          <a:p>
            <a:pPr marL="285750" indent="-285750">
              <a:buClr>
                <a:srgbClr val="B1063A"/>
              </a:buClr>
              <a:buFont typeface="Arial"/>
              <a:buChar char="•"/>
            </a:pPr>
            <a:r>
              <a:rPr lang="en-US" sz="1400" dirty="0">
                <a:solidFill>
                  <a:srgbClr val="3C3C3C"/>
                </a:solidFill>
              </a:rPr>
              <a:t>Buchung → Kalender → freier Slot</a:t>
            </a:r>
          </a:p>
          <a:p>
            <a:pPr marL="285750" indent="-285750">
              <a:buClr>
                <a:srgbClr val="B1063A"/>
              </a:buClr>
              <a:buFont typeface="Arial"/>
              <a:buChar char="•"/>
            </a:pPr>
            <a:r>
              <a:rPr lang="en-US" sz="1400" dirty="0">
                <a:solidFill>
                  <a:srgbClr val="3C3C3C"/>
                </a:solidFill>
              </a:rPr>
              <a:t>sonst → eskalieren</a:t>
            </a:r>
          </a:p>
          <a:p>
            <a:pPr>
              <a:spcBef>
                <a:spcPts val="1400"/>
              </a:spcBef>
              <a:buNone/>
            </a:pPr>
            <a:r>
              <a:rPr lang="en-US" sz="1500" b="1" dirty="0">
                <a:solidFill>
                  <a:srgbClr val="B1063A"/>
                </a:solidFill>
              </a:rPr>
              <a:t>Es </a:t>
            </a:r>
            <a:r>
              <a:rPr lang="en-US" sz="1500" b="1" dirty="0" err="1">
                <a:solidFill>
                  <a:srgbClr val="B1063A"/>
                </a:solidFill>
              </a:rPr>
              <a:t>werden</a:t>
            </a:r>
            <a:r>
              <a:rPr lang="en-US" sz="1500" b="1" dirty="0">
                <a:solidFill>
                  <a:srgbClr val="B1063A"/>
                </a:solidFill>
              </a:rPr>
              <a:t> </a:t>
            </a:r>
            <a:r>
              <a:rPr lang="en-US" sz="1500" b="1" dirty="0" err="1">
                <a:solidFill>
                  <a:srgbClr val="B1063A"/>
                </a:solidFill>
              </a:rPr>
              <a:t>nur</a:t>
            </a:r>
            <a:r>
              <a:rPr lang="en-US" sz="1500" b="1" dirty="0">
                <a:solidFill>
                  <a:srgbClr val="B1063A"/>
                </a:solidFill>
              </a:rPr>
              <a:t> </a:t>
            </a:r>
            <a:r>
              <a:rPr lang="en-US" sz="1500" b="1" dirty="0" err="1">
                <a:solidFill>
                  <a:srgbClr val="B1063A"/>
                </a:solidFill>
              </a:rPr>
              <a:t>Entwürfe</a:t>
            </a:r>
            <a:r>
              <a:rPr lang="en-US" sz="1500" b="1" dirty="0">
                <a:solidFill>
                  <a:srgbClr val="B1063A"/>
                </a:solidFill>
              </a:rPr>
              <a:t> </a:t>
            </a:r>
            <a:r>
              <a:rPr lang="en-US" sz="1500" b="1" dirty="0" err="1">
                <a:solidFill>
                  <a:srgbClr val="B1063A"/>
                </a:solidFill>
              </a:rPr>
              <a:t>erstellt</a:t>
            </a:r>
            <a:r>
              <a:rPr lang="en-US" sz="1500" b="1" dirty="0">
                <a:solidFill>
                  <a:srgbClr val="B1063A"/>
                </a:solidFill>
              </a:rPr>
              <a:t>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F10E4B-42E3-F28E-AC7D-84A7E48F7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1545696"/>
            <a:ext cx="7307469" cy="4067704"/>
          </a:xfrm>
          <a:prstGeom prst="rect">
            <a:avLst/>
          </a:prstGeom>
        </p:spPr>
      </p:pic>
      <p:sp>
        <p:nvSpPr>
          <p:cNvPr id="8" name="C2">
            <a:extLst>
              <a:ext uri="{FF2B5EF4-FFF2-40B4-BE49-F238E27FC236}">
                <a16:creationId xmlns:a16="http://schemas.microsoft.com/office/drawing/2014/main" id="{4567600E-5310-341E-FBC0-F5EE5743044D}"/>
              </a:ext>
            </a:extLst>
          </p:cNvPr>
          <p:cNvSpPr txBox="1"/>
          <p:nvPr/>
        </p:nvSpPr>
        <p:spPr>
          <a:xfrm>
            <a:off x="2974340" y="5876396"/>
            <a:ext cx="1778000" cy="381000"/>
          </a:xfrm>
          <a:prstGeom prst="roundRect">
            <a:avLst/>
          </a:prstGeom>
          <a:solidFill>
            <a:srgbClr val="B1063A"/>
          </a:solidFill>
          <a:ln>
            <a:noFill/>
          </a:ln>
        </p:spPr>
        <p:txBody>
          <a:bodyPr wrap="square" lIns="101600" tIns="45720" rIns="101600" bIns="4572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Human-In-The-Loop</a:t>
            </a:r>
          </a:p>
        </p:txBody>
      </p:sp>
      <p:cxnSp>
        <p:nvCxnSpPr>
          <p:cNvPr id="9" name="Leader 302">
            <a:extLst>
              <a:ext uri="{FF2B5EF4-FFF2-40B4-BE49-F238E27FC236}">
                <a16:creationId xmlns:a16="http://schemas.microsoft.com/office/drawing/2014/main" id="{A2D33438-2E78-56A3-B57A-53FA66DEE51A}"/>
              </a:ext>
            </a:extLst>
          </p:cNvPr>
          <p:cNvCxnSpPr/>
          <p:nvPr/>
        </p:nvCxnSpPr>
        <p:spPr>
          <a:xfrm flipH="1" flipV="1">
            <a:off x="3429000" y="5359400"/>
            <a:ext cx="508000" cy="508000"/>
          </a:xfrm>
          <a:prstGeom prst="straightConnector1">
            <a:avLst/>
          </a:prstGeom>
          <a:ln w="19050">
            <a:solidFill>
              <a:srgbClr val="B1063A"/>
            </a:solidFill>
            <a:tailEnd type="oval"/>
          </a:ln>
        </p:spPr>
      </p:cxnSp>
    </p:spTree>
    <p:extLst>
      <p:ext uri="{BB962C8B-B14F-4D97-AF65-F5344CB8AC3E}">
        <p14:creationId xmlns:p14="http://schemas.microsoft.com/office/powerpoint/2010/main" val="1372864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33B5A-B82F-504E-033B-6582695D1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Jetzt Sie: Entwerfen Sie Ihren eigenen agentischen Workflow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1" name="Kicker"/>
          <p:cNvSpPr txBox="1"/>
          <p:nvPr/>
        </p:nvSpPr>
        <p:spPr>
          <a:xfrm>
            <a:off x="762000" y="14986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600" b="1" dirty="0">
                <a:solidFill>
                  <a:srgbClr val="B1063A"/>
                </a:solidFill>
              </a:rPr>
              <a:t>Ca. 20 Minuten · Papier und Stift</a:t>
            </a:r>
          </a:p>
        </p:txBody>
      </p:sp>
      <p:sp>
        <p:nvSpPr>
          <p:cNvPr id="102" name="Num0"/>
          <p:cNvSpPr txBox="1"/>
          <p:nvPr/>
        </p:nvSpPr>
        <p:spPr>
          <a:xfrm>
            <a:off x="762000" y="2006600"/>
            <a:ext cx="431800" cy="4318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3" name="Row0"/>
          <p:cNvSpPr txBox="1"/>
          <p:nvPr/>
        </p:nvSpPr>
        <p:spPr>
          <a:xfrm>
            <a:off x="1371600" y="1930400"/>
            <a:ext cx="100584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Eine wiederkehrende Aufgabe </a:t>
            </a:r>
            <a:r>
              <a:rPr lang="en-US" sz="1800" b="1" dirty="0" err="1">
                <a:solidFill>
                  <a:srgbClr val="1A1A1A"/>
                </a:solidFill>
              </a:rPr>
              <a:t>wählen</a:t>
            </a:r>
            <a:endParaRPr lang="en-US" sz="1600" dirty="0">
              <a:solidFill>
                <a:srgbClr val="3C3C3C"/>
              </a:solidFill>
            </a:endParaRPr>
          </a:p>
        </p:txBody>
      </p:sp>
      <p:sp>
        <p:nvSpPr>
          <p:cNvPr id="104" name="Num1"/>
          <p:cNvSpPr txBox="1"/>
          <p:nvPr/>
        </p:nvSpPr>
        <p:spPr>
          <a:xfrm>
            <a:off x="762000" y="2641600"/>
            <a:ext cx="431800" cy="4318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5" name="Row1"/>
          <p:cNvSpPr txBox="1"/>
          <p:nvPr/>
        </p:nvSpPr>
        <p:spPr>
          <a:xfrm>
            <a:off x="1371600" y="2565400"/>
            <a:ext cx="100584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Das Arbeitsblatt ausfüllen  </a:t>
            </a:r>
            <a:r>
              <a:rPr lang="en-US" sz="1600" dirty="0">
                <a:solidFill>
                  <a:srgbClr val="3C3C3C"/>
                </a:solidFill>
              </a:rPr>
              <a:t>Idee, 2–3 Beispielanfragen, warum </a:t>
            </a:r>
            <a:r>
              <a:rPr lang="en-US" sz="1600" dirty="0" err="1">
                <a:solidFill>
                  <a:srgbClr val="3C3C3C"/>
                </a:solidFill>
              </a:rPr>
              <a:t>ein</a:t>
            </a:r>
            <a:r>
              <a:rPr lang="en-US" sz="1600" dirty="0">
                <a:solidFill>
                  <a:srgbClr val="3C3C3C"/>
                </a:solidFill>
              </a:rPr>
              <a:t> Agent?, </a:t>
            </a:r>
            <a:r>
              <a:rPr lang="en-US" sz="1600" dirty="0" err="1">
                <a:solidFill>
                  <a:srgbClr val="3C3C3C"/>
                </a:solidFill>
              </a:rPr>
              <a:t>warum</a:t>
            </a:r>
            <a:r>
              <a:rPr lang="en-US" sz="1600" dirty="0">
                <a:solidFill>
                  <a:srgbClr val="3C3C3C"/>
                </a:solidFill>
              </a:rPr>
              <a:t> </a:t>
            </a:r>
            <a:r>
              <a:rPr lang="en-US" sz="1600" dirty="0" err="1">
                <a:solidFill>
                  <a:srgbClr val="3C3C3C"/>
                </a:solidFill>
              </a:rPr>
              <a:t>ein</a:t>
            </a:r>
            <a:r>
              <a:rPr lang="en-US" sz="1600" dirty="0">
                <a:solidFill>
                  <a:srgbClr val="3C3C3C"/>
                </a:solidFill>
              </a:rPr>
              <a:t> MCP Server?</a:t>
            </a:r>
          </a:p>
        </p:txBody>
      </p:sp>
      <p:sp>
        <p:nvSpPr>
          <p:cNvPr id="106" name="Num2"/>
          <p:cNvSpPr txBox="1"/>
          <p:nvPr/>
        </p:nvSpPr>
        <p:spPr>
          <a:xfrm>
            <a:off x="762000" y="3276600"/>
            <a:ext cx="431800" cy="4318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7" name="Row2"/>
          <p:cNvSpPr txBox="1"/>
          <p:nvPr/>
        </p:nvSpPr>
        <p:spPr>
          <a:xfrm>
            <a:off x="1371600" y="3200400"/>
            <a:ext cx="100584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en-US" sz="1800" b="1" dirty="0">
                <a:solidFill>
                  <a:srgbClr val="1A1A1A"/>
                </a:solidFill>
              </a:rPr>
              <a:t>Passende MCP-Server </a:t>
            </a:r>
            <a:r>
              <a:rPr lang="en-US" sz="1800" b="1" dirty="0" err="1">
                <a:solidFill>
                  <a:srgbClr val="1A1A1A"/>
                </a:solidFill>
              </a:rPr>
              <a:t>finden</a:t>
            </a:r>
            <a:r>
              <a:rPr lang="en-US" sz="1800" b="1" dirty="0">
                <a:solidFill>
                  <a:srgbClr val="1A1A1A"/>
                </a:solidFill>
              </a:rPr>
              <a:t> </a:t>
            </a:r>
            <a:r>
              <a:rPr lang="en-US" sz="1000" b="1" dirty="0">
                <a:solidFill>
                  <a:srgbClr val="1A1A1A"/>
                </a:solidFill>
              </a:rPr>
              <a:t> </a:t>
            </a:r>
            <a:r>
              <a:rPr lang="en-US" sz="1000" b="1" dirty="0" err="1">
                <a:solidFill>
                  <a:srgbClr val="B1063A"/>
                </a:solidFill>
              </a:rPr>
              <a:t>registry.modelcontextprotocol.io</a:t>
            </a:r>
            <a:r>
              <a:rPr lang="en-US" sz="1000" b="1" dirty="0">
                <a:solidFill>
                  <a:srgbClr val="B1063A"/>
                </a:solidFill>
              </a:rPr>
              <a:t>, </a:t>
            </a:r>
            <a:r>
              <a:rPr lang="en-US" sz="1000" b="1" dirty="0" err="1">
                <a:solidFill>
                  <a:srgbClr val="B1063A"/>
                </a:solidFill>
              </a:rPr>
              <a:t>pulsemcp.com</a:t>
            </a:r>
            <a:r>
              <a:rPr lang="en-US" sz="1000" b="1" dirty="0">
                <a:solidFill>
                  <a:srgbClr val="B1063A"/>
                </a:solidFill>
              </a:rPr>
              <a:t>, </a:t>
            </a:r>
            <a:r>
              <a:rPr lang="en-US" sz="1000" b="1" dirty="0" err="1">
                <a:solidFill>
                  <a:srgbClr val="B1063A"/>
                </a:solidFill>
              </a:rPr>
              <a:t>github.com</a:t>
            </a:r>
            <a:r>
              <a:rPr lang="en-US" sz="1000" b="1" dirty="0">
                <a:solidFill>
                  <a:srgbClr val="B1063A"/>
                </a:solidFill>
              </a:rPr>
              <a:t>/</a:t>
            </a:r>
            <a:r>
              <a:rPr lang="en-US" sz="1000" b="1" dirty="0" err="1">
                <a:solidFill>
                  <a:srgbClr val="B1063A"/>
                </a:solidFill>
              </a:rPr>
              <a:t>mcp</a:t>
            </a:r>
            <a:r>
              <a:rPr lang="en-US" sz="1000" b="1" dirty="0">
                <a:solidFill>
                  <a:srgbClr val="B1063A"/>
                </a:solidFill>
              </a:rPr>
              <a:t>, </a:t>
            </a:r>
            <a:r>
              <a:rPr lang="en-US" sz="1000" b="1" dirty="0" err="1">
                <a:solidFill>
                  <a:srgbClr val="B1063A"/>
                </a:solidFill>
              </a:rPr>
              <a:t>mcpservers.org</a:t>
            </a:r>
            <a:r>
              <a:rPr lang="en-US" sz="1000" b="1" dirty="0">
                <a:solidFill>
                  <a:srgbClr val="B1063A"/>
                </a:solidFill>
              </a:rPr>
              <a:t>, </a:t>
            </a:r>
            <a:r>
              <a:rPr lang="en-US" sz="1000" b="1" dirty="0" err="1">
                <a:solidFill>
                  <a:srgbClr val="B1063A"/>
                </a:solidFill>
              </a:rPr>
              <a:t>smithery.ai</a:t>
            </a:r>
            <a:r>
              <a:rPr lang="en-US" sz="1000" b="1" dirty="0">
                <a:solidFill>
                  <a:srgbClr val="B1063A"/>
                </a:solidFill>
              </a:rPr>
              <a:t>, </a:t>
            </a:r>
            <a:r>
              <a:rPr lang="en-US" sz="1000" b="1" dirty="0" err="1">
                <a:solidFill>
                  <a:srgbClr val="B1063A"/>
                </a:solidFill>
              </a:rPr>
              <a:t>mcpsafe.org</a:t>
            </a:r>
            <a:r>
              <a:rPr lang="en-US" sz="1000" b="1" dirty="0">
                <a:solidFill>
                  <a:srgbClr val="B1063A"/>
                </a:solidFill>
              </a:rPr>
              <a:t>, </a:t>
            </a:r>
            <a:r>
              <a:rPr lang="en-US" sz="1000" b="1" dirty="0" err="1">
                <a:solidFill>
                  <a:srgbClr val="B1063A"/>
                </a:solidFill>
              </a:rPr>
              <a:t>mcprisk.org</a:t>
            </a:r>
            <a:r>
              <a:rPr lang="en-US" sz="1000" b="1" dirty="0">
                <a:solidFill>
                  <a:srgbClr val="B1063A"/>
                </a:solidFill>
              </a:rPr>
              <a:t>, …</a:t>
            </a:r>
          </a:p>
        </p:txBody>
      </p:sp>
      <p:sp>
        <p:nvSpPr>
          <p:cNvPr id="108" name="Num3"/>
          <p:cNvSpPr txBox="1"/>
          <p:nvPr/>
        </p:nvSpPr>
        <p:spPr>
          <a:xfrm>
            <a:off x="762000" y="3911600"/>
            <a:ext cx="431800" cy="4318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9" name="Row3"/>
          <p:cNvSpPr txBox="1"/>
          <p:nvPr/>
        </p:nvSpPr>
        <p:spPr>
          <a:xfrm>
            <a:off x="1371600" y="3835400"/>
            <a:ext cx="100584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Jeden Server durch die Prüf-Checkliste schicken  </a:t>
            </a:r>
            <a:r>
              <a:rPr lang="en-US" sz="1600" dirty="0">
                <a:solidFill>
                  <a:srgbClr val="3C3C3C"/>
                </a:solidFill>
              </a:rPr>
              <a:t>Urteil</a:t>
            </a:r>
            <a:r>
              <a:rPr lang="en-US" sz="1600" b="1" dirty="0">
                <a:solidFill>
                  <a:srgbClr val="2E8B57"/>
                </a:solidFill>
              </a:rPr>
              <a:t>  ● </a:t>
            </a:r>
            <a:r>
              <a:rPr lang="en-US" sz="1600" b="1" dirty="0">
                <a:solidFill>
                  <a:srgbClr val="E0A100"/>
                </a:solidFill>
              </a:rPr>
              <a:t>● </a:t>
            </a:r>
            <a:r>
              <a:rPr lang="en-US" sz="1600" b="1" dirty="0">
                <a:solidFill>
                  <a:srgbClr val="B1063A"/>
                </a:solidFill>
              </a:rPr>
              <a:t>●</a:t>
            </a:r>
          </a:p>
        </p:txBody>
      </p:sp>
      <p:sp>
        <p:nvSpPr>
          <p:cNvPr id="110" name="Num4"/>
          <p:cNvSpPr txBox="1"/>
          <p:nvPr/>
        </p:nvSpPr>
        <p:spPr>
          <a:xfrm>
            <a:off x="762000" y="4546600"/>
            <a:ext cx="431800" cy="4318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11" name="Row4"/>
          <p:cNvSpPr txBox="1"/>
          <p:nvPr/>
        </p:nvSpPr>
        <p:spPr>
          <a:xfrm>
            <a:off x="1371600" y="4470400"/>
            <a:ext cx="100584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Nächste Schritte zum Pilot notieren  </a:t>
            </a:r>
            <a:r>
              <a:rPr lang="en-US" sz="1600" dirty="0">
                <a:solidFill>
                  <a:srgbClr val="3C3C3C"/>
                </a:solidFill>
              </a:rPr>
              <a:t>Verantwortliche · Zugang · Freigabe</a:t>
            </a:r>
          </a:p>
        </p:txBody>
      </p:sp>
      <p:sp>
        <p:nvSpPr>
          <p:cNvPr id="112" name="After"/>
          <p:cNvSpPr txBox="1"/>
          <p:nvPr/>
        </p:nvSpPr>
        <p:spPr>
          <a:xfrm>
            <a:off x="762000" y="5257800"/>
            <a:ext cx="10668000" cy="711200"/>
          </a:xfrm>
          <a:prstGeom prst="roundRect">
            <a:avLst/>
          </a:prstGeom>
          <a:solidFill>
            <a:srgbClr val="B1063A"/>
          </a:solidFill>
          <a:ln>
            <a:noFill/>
          </a:ln>
        </p:spPr>
        <p:txBody>
          <a:bodyPr wrap="square" lIns="177800" tIns="45720" rIns="177800" bIns="4572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Danach: 3-Minuten-Pitches. </a:t>
            </a:r>
            <a:r>
              <a:rPr lang="en-US" sz="1700" dirty="0">
                <a:solidFill>
                  <a:srgbClr val="FFFFFF"/>
                </a:solidFill>
              </a:rPr>
              <a:t>Ihre Idee, Ihr(e) Server, Ihr Urteil.</a:t>
            </a:r>
          </a:p>
        </p:txBody>
      </p:sp>
    </p:spTree>
    <p:extLst>
      <p:ext uri="{BB962C8B-B14F-4D97-AF65-F5344CB8AC3E}">
        <p14:creationId xmlns:p14="http://schemas.microsoft.com/office/powerpoint/2010/main" val="1309263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09B9D81D-05EC-C06E-B300-AEE3932ABD1D}"/>
              </a:ext>
            </a:extLst>
          </p:cNvPr>
          <p:cNvSpPr/>
          <p:nvPr/>
        </p:nvSpPr>
        <p:spPr>
          <a:xfrm>
            <a:off x="268014" y="122182"/>
            <a:ext cx="11655972" cy="6613635"/>
          </a:xfrm>
          <a:custGeom>
            <a:avLst/>
            <a:gdLst/>
            <a:ahLst/>
            <a:cxnLst/>
            <a:rect l="l" t="t" r="r" b="b"/>
            <a:pathLst>
              <a:path w="18288000" h="10260445">
                <a:moveTo>
                  <a:pt x="0" y="0"/>
                </a:moveTo>
                <a:lnTo>
                  <a:pt x="18288000" y="0"/>
                </a:lnTo>
                <a:lnTo>
                  <a:pt x="18288000" y="10260445"/>
                </a:lnTo>
                <a:lnTo>
                  <a:pt x="0" y="10260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8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52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CF05B-3D91-E903-910A-0CC41FE40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Backup · Ist das nicht einfach nur eine weitere API?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762000" y="1905000"/>
          <a:ext cx="9144000" cy="2032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Klassische API (REST, gRPC)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MCP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Vertrag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einer pro Service, jeder anders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ein festes Interface für jedes Tool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Integration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zur Entwicklungszeit: Doku lesen, Glue-Code schreiben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zur Laufzeit: 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Consolas"/>
                        </a:rPr>
                        <a:t>tools/list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 → Model-Kontext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Nutzer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ein Entwickler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das Model, das Descriptions liest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E0E0E0"/>
                      </a:solidFill>
                    </a:lnB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2" name="L0"/>
          <p:cNvSpPr txBox="1"/>
          <p:nvPr/>
        </p:nvSpPr>
        <p:spPr>
          <a:xfrm>
            <a:off x="10236200" y="2006600"/>
            <a:ext cx="1193800" cy="508000"/>
          </a:xfrm>
          <a:prstGeom prst="roundRect">
            <a:avLst/>
          </a:prstGeom>
          <a:solidFill>
            <a:srgbClr val="1F5FA9"/>
          </a:solidFill>
          <a:ln>
            <a:noFill/>
          </a:ln>
        </p:spPr>
        <p:txBody>
          <a:bodyPr wrap="square" lIns="25400" tIns="45720" rIns="25400" bIns="4572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</a:t>
            </a:r>
          </a:p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function calling</a:t>
            </a:r>
          </a:p>
        </p:txBody>
      </p:sp>
      <p:cxnSp>
        <p:nvCxnSpPr>
          <p:cNvPr id="103" name="Arrow 103"/>
          <p:cNvCxnSpPr/>
          <p:nvPr/>
        </p:nvCxnSpPr>
        <p:spPr>
          <a:xfrm>
            <a:off x="10833100" y="2514600"/>
            <a:ext cx="0" cy="127000"/>
          </a:xfrm>
          <a:prstGeom prst="straightConnector1">
            <a:avLst/>
          </a:prstGeom>
          <a:ln w="19050">
            <a:solidFill>
              <a:srgbClr val="6E6E6E"/>
            </a:solidFill>
            <a:headEnd type="triangle"/>
            <a:tailEnd type="triangle"/>
          </a:ln>
        </p:spPr>
      </p:cxnSp>
      <p:sp>
        <p:nvSpPr>
          <p:cNvPr id="104" name="L1"/>
          <p:cNvSpPr txBox="1"/>
          <p:nvPr/>
        </p:nvSpPr>
        <p:spPr>
          <a:xfrm>
            <a:off x="10236200" y="2641600"/>
            <a:ext cx="1193800" cy="508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25400" tIns="45720" rIns="25400" bIns="45720" anchor="ctr"/>
          <a:lstStyle/>
          <a:p>
            <a:pPr algn="ctr">
              <a:buNone/>
            </a:pPr>
            <a:r>
              <a:rPr lang="en-US" sz="1300" b="1" dirty="0">
                <a:solidFill>
                  <a:srgbClr val="3C3C3C"/>
                </a:solidFill>
              </a:rPr>
              <a:t>Host</a:t>
            </a:r>
          </a:p>
          <a:p>
            <a:pPr algn="ctr">
              <a:buNone/>
            </a:pPr>
            <a:r>
              <a:rPr lang="en-US" sz="1000" dirty="0">
                <a:solidFill>
                  <a:srgbClr val="3C3C3C"/>
                </a:solidFill>
              </a:rPr>
              <a:t>übersetzt den Aufruf</a:t>
            </a:r>
          </a:p>
        </p:txBody>
      </p:sp>
      <p:cxnSp>
        <p:nvCxnSpPr>
          <p:cNvPr id="105" name="Arrow 105"/>
          <p:cNvCxnSpPr/>
          <p:nvPr/>
        </p:nvCxnSpPr>
        <p:spPr>
          <a:xfrm>
            <a:off x="10833100" y="3149600"/>
            <a:ext cx="0" cy="127000"/>
          </a:xfrm>
          <a:prstGeom prst="straightConnector1">
            <a:avLst/>
          </a:prstGeom>
          <a:ln w="19050">
            <a:solidFill>
              <a:srgbClr val="6E6E6E"/>
            </a:solidFill>
            <a:headEnd type="triangle"/>
            <a:tailEnd type="triangle"/>
          </a:ln>
        </p:spPr>
      </p:cxnSp>
      <p:sp>
        <p:nvSpPr>
          <p:cNvPr id="106" name="L2"/>
          <p:cNvSpPr txBox="1"/>
          <p:nvPr/>
        </p:nvSpPr>
        <p:spPr>
          <a:xfrm>
            <a:off x="10236200" y="3276600"/>
            <a:ext cx="1193800" cy="508000"/>
          </a:xfrm>
          <a:prstGeom prst="roundRect">
            <a:avLst/>
          </a:prstGeom>
          <a:solidFill>
            <a:srgbClr val="1F5FA9"/>
          </a:solidFill>
          <a:ln>
            <a:noFill/>
          </a:ln>
        </p:spPr>
        <p:txBody>
          <a:bodyPr wrap="square" lIns="25400" tIns="45720" rIns="25400" bIns="4572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MCP</a:t>
            </a:r>
          </a:p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ein Protokoll</a:t>
            </a:r>
          </a:p>
        </p:txBody>
      </p:sp>
      <p:cxnSp>
        <p:nvCxnSpPr>
          <p:cNvPr id="107" name="Arrow 107"/>
          <p:cNvCxnSpPr/>
          <p:nvPr/>
        </p:nvCxnSpPr>
        <p:spPr>
          <a:xfrm>
            <a:off x="10833100" y="3784600"/>
            <a:ext cx="0" cy="127000"/>
          </a:xfrm>
          <a:prstGeom prst="straightConnector1">
            <a:avLst/>
          </a:prstGeom>
          <a:ln w="19050">
            <a:solidFill>
              <a:srgbClr val="6E6E6E"/>
            </a:solidFill>
            <a:headEnd type="triangle"/>
            <a:tailEnd type="triangle"/>
          </a:ln>
        </p:spPr>
      </p:cxnSp>
      <p:sp>
        <p:nvSpPr>
          <p:cNvPr id="108" name="L3"/>
          <p:cNvSpPr txBox="1"/>
          <p:nvPr/>
        </p:nvSpPr>
        <p:spPr>
          <a:xfrm>
            <a:off x="10236200" y="3911600"/>
            <a:ext cx="1193800" cy="508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25400" tIns="45720" rIns="25400" bIns="45720" anchor="ctr"/>
          <a:lstStyle/>
          <a:p>
            <a:pPr algn="ctr">
              <a:buNone/>
            </a:pPr>
            <a:r>
              <a:rPr lang="en-US" sz="1300" b="1" dirty="0">
                <a:solidFill>
                  <a:srgbClr val="3C3C3C"/>
                </a:solidFill>
              </a:rPr>
              <a:t>Server</a:t>
            </a:r>
          </a:p>
          <a:p>
            <a:pPr algn="ctr">
              <a:buNone/>
            </a:pPr>
            <a:r>
              <a:rPr lang="en-US" sz="1000" dirty="0">
                <a:solidFill>
                  <a:srgbClr val="3C3C3C"/>
                </a:solidFill>
              </a:rPr>
              <a:t>kapselt ein System</a:t>
            </a:r>
          </a:p>
        </p:txBody>
      </p:sp>
      <p:cxnSp>
        <p:nvCxnSpPr>
          <p:cNvPr id="109" name="Arrow 109"/>
          <p:cNvCxnSpPr/>
          <p:nvPr/>
        </p:nvCxnSpPr>
        <p:spPr>
          <a:xfrm>
            <a:off x="10833100" y="4419600"/>
            <a:ext cx="0" cy="127000"/>
          </a:xfrm>
          <a:prstGeom prst="straightConnector1">
            <a:avLst/>
          </a:prstGeom>
          <a:ln w="19050">
            <a:solidFill>
              <a:srgbClr val="6E6E6E"/>
            </a:solidFill>
            <a:headEnd type="triangle"/>
            <a:tailEnd type="triangle"/>
          </a:ln>
        </p:spPr>
      </p:cxnSp>
      <p:sp>
        <p:nvSpPr>
          <p:cNvPr id="110" name="L4"/>
          <p:cNvSpPr txBox="1"/>
          <p:nvPr/>
        </p:nvSpPr>
        <p:spPr>
          <a:xfrm>
            <a:off x="10236200" y="4546600"/>
            <a:ext cx="1193800" cy="508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25400" tIns="45720" rIns="25400" bIns="45720" anchor="ctr"/>
          <a:lstStyle/>
          <a:p>
            <a:pPr algn="ctr">
              <a:buNone/>
            </a:pPr>
            <a:r>
              <a:rPr lang="en-US" sz="1300" b="1" dirty="0">
                <a:solidFill>
                  <a:srgbClr val="3C3C3C"/>
                </a:solidFill>
              </a:rPr>
              <a:t>Bestehende API</a:t>
            </a:r>
          </a:p>
          <a:p>
            <a:pPr algn="ctr">
              <a:buNone/>
            </a:pPr>
            <a:r>
              <a:rPr lang="en-US" sz="1000" dirty="0">
                <a:solidFill>
                  <a:srgbClr val="3C3C3C"/>
                </a:solidFill>
              </a:rPr>
              <a:t>REST, Datenbank, Dateien</a:t>
            </a:r>
          </a:p>
        </p:txBody>
      </p:sp>
      <p:sp>
        <p:nvSpPr>
          <p:cNvPr id="111" name="Footer"/>
          <p:cNvSpPr txBox="1"/>
          <p:nvPr/>
        </p:nvSpPr>
        <p:spPr>
          <a:xfrm>
            <a:off x="762000" y="50800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500" dirty="0">
                <a:solidFill>
                  <a:srgbClr val="3C3C3C"/>
                </a:solidFill>
              </a:rPr>
              <a:t>Darunter ist es JSON-RPC; das Model macht weiterhin normales Function Calling, also </a:t>
            </a:r>
            <a:r>
              <a:rPr lang="en-US" sz="1500" b="1" dirty="0">
                <a:solidFill>
                  <a:srgbClr val="1A1A1A"/>
                </a:solidFill>
              </a:rPr>
              <a:t>funktioniert jedes Model.</a:t>
            </a:r>
          </a:p>
          <a:p>
            <a:pPr>
              <a:spcBef>
                <a:spcPts val="600"/>
              </a:spcBef>
              <a:buNone/>
            </a:pPr>
            <a:r>
              <a:rPr lang="en-US" sz="1400" dirty="0">
                <a:solidFill>
                  <a:srgbClr val="6E6E6E"/>
                </a:solidFill>
              </a:rPr>
              <a:t>Vorbilder: LSP (Editoren × Sprachen), ODBC (Apps × Datenbanken). Ein Server kapselt meist eine bestehende API: MCP sitzt vor Ihren Services, es ersetzt sie nicht.</a:t>
            </a:r>
          </a:p>
        </p:txBody>
      </p:sp>
    </p:spTree>
    <p:extLst>
      <p:ext uri="{BB962C8B-B14F-4D97-AF65-F5344CB8AC3E}">
        <p14:creationId xmlns:p14="http://schemas.microsoft.com/office/powerpoint/2010/main" val="3031604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D1413-8304-7BC4-157E-177B81D1E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Backup · Was tatsächlich über die Leitung geht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1" name="Lbl1"/>
          <p:cNvSpPr txBox="1"/>
          <p:nvPr/>
        </p:nvSpPr>
        <p:spPr>
          <a:xfrm>
            <a:off x="762000" y="1574800"/>
            <a:ext cx="520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6E6E6E"/>
                </a:solidFill>
              </a:rPr>
              <a:t>1 · Discovery: </a:t>
            </a:r>
            <a:r>
              <a:rPr lang="en-US" sz="1400" b="1" dirty="0">
                <a:solidFill>
                  <a:srgbClr val="B1063A"/>
                </a:solidFill>
                <a:latin typeface="Consolas"/>
              </a:rPr>
              <a:t>tools/list</a:t>
            </a:r>
          </a:p>
        </p:txBody>
      </p:sp>
      <p:sp>
        <p:nvSpPr>
          <p:cNvPr id="102" name="Card1"/>
          <p:cNvSpPr txBox="1"/>
          <p:nvPr/>
        </p:nvSpPr>
        <p:spPr>
          <a:xfrm>
            <a:off x="762000" y="1905000"/>
            <a:ext cx="5207000" cy="317500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3" name="Code1"/>
          <p:cNvSpPr txBox="1"/>
          <p:nvPr/>
        </p:nvSpPr>
        <p:spPr>
          <a:xfrm>
            <a:off x="939800" y="2032000"/>
            <a:ext cx="4902200" cy="2946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200" dirty="0">
                <a:solidFill>
                  <a:srgbClr val="9A9A9A"/>
                </a:solidFill>
                <a:latin typeface="Consolas"/>
              </a:rPr>
              <a:t>// request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{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"method"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"tools/list"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 }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 </a:t>
            </a:r>
          </a:p>
          <a:p>
            <a:pPr>
              <a:buNone/>
            </a:pPr>
            <a:r>
              <a:rPr lang="en-US" sz="1200" dirty="0">
                <a:solidFill>
                  <a:srgbClr val="9A9A9A"/>
                </a:solidFill>
                <a:latin typeface="Consolas"/>
              </a:rPr>
              <a:t>// response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{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"tools"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[ {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   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"name"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"get_forecast"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   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"description"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"Daily weather forecast</a:t>
            </a:r>
          </a:p>
          <a:p>
            <a:pPr>
              <a:buNone/>
            </a:pPr>
            <a:r>
              <a:rPr lang="en-US" sz="1200" dirty="0">
                <a:solidFill>
                  <a:srgbClr val="F5D77A"/>
                </a:solidFill>
                <a:latin typeface="Consolas"/>
              </a:rPr>
              <a:t>        for a city. Use for …"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   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"inputSchema"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{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"city"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"string"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                    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"date"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"string"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 }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} ] }</a:t>
            </a:r>
          </a:p>
        </p:txBody>
      </p:sp>
      <p:sp>
        <p:nvSpPr>
          <p:cNvPr id="104" name="Lbl2"/>
          <p:cNvSpPr txBox="1"/>
          <p:nvPr/>
        </p:nvSpPr>
        <p:spPr>
          <a:xfrm>
            <a:off x="6223000" y="1574800"/>
            <a:ext cx="520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6E6E6E"/>
                </a:solidFill>
              </a:rPr>
              <a:t>2 · Ausführung: </a:t>
            </a:r>
            <a:r>
              <a:rPr lang="en-US" sz="1400" b="1" dirty="0">
                <a:solidFill>
                  <a:srgbClr val="B1063A"/>
                </a:solidFill>
                <a:latin typeface="Consolas"/>
              </a:rPr>
              <a:t>tools/call</a:t>
            </a:r>
          </a:p>
        </p:txBody>
      </p:sp>
      <p:sp>
        <p:nvSpPr>
          <p:cNvPr id="105" name="Card2"/>
          <p:cNvSpPr txBox="1"/>
          <p:nvPr/>
        </p:nvSpPr>
        <p:spPr>
          <a:xfrm>
            <a:off x="6223000" y="1905000"/>
            <a:ext cx="5207000" cy="317500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6" name="Code2"/>
          <p:cNvSpPr txBox="1"/>
          <p:nvPr/>
        </p:nvSpPr>
        <p:spPr>
          <a:xfrm>
            <a:off x="6400800" y="2032000"/>
            <a:ext cx="4902200" cy="2946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200" dirty="0">
                <a:solidFill>
                  <a:srgbClr val="9A9A9A"/>
                </a:solidFill>
                <a:latin typeface="Consolas"/>
              </a:rPr>
              <a:t>// request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{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"method"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"tools/call"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 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"params"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{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"name"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"get_forecast"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             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"arguments"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{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"city"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"Berlin"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                            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"date"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"2026-09-05"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 } } }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 </a:t>
            </a:r>
          </a:p>
          <a:p>
            <a:pPr>
              <a:buNone/>
            </a:pPr>
            <a:r>
              <a:rPr lang="en-US" sz="1200" dirty="0">
                <a:solidFill>
                  <a:srgbClr val="9A9A9A"/>
                </a:solidFill>
                <a:latin typeface="Consolas"/>
              </a:rPr>
              <a:t>// response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{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"content"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[ {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"type"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"text"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   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"text"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"Berlin, 5 Sept: 19 °C, light rain"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 } ] }</a:t>
            </a:r>
          </a:p>
        </p:txBody>
      </p:sp>
      <p:sp>
        <p:nvSpPr>
          <p:cNvPr id="107" name="Footer"/>
          <p:cNvSpPr txBox="1"/>
          <p:nvPr/>
        </p:nvSpPr>
        <p:spPr>
          <a:xfrm>
            <a:off x="762000" y="5308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600" b="1" dirty="0">
                <a:solidFill>
                  <a:srgbClr val="1A1A1A"/>
                </a:solidFill>
              </a:rPr>
              <a:t>Reines JSON-RPC · Discovery zur Laufzeit · </a:t>
            </a:r>
            <a:r>
              <a:rPr lang="en-US" sz="1600" b="1" dirty="0">
                <a:solidFill>
                  <a:srgbClr val="B1063A"/>
                </a:solidFill>
              </a:rPr>
              <a:t>die Description ist ein Prompt.</a:t>
            </a:r>
          </a:p>
          <a:p>
            <a:pPr>
              <a:spcBef>
                <a:spcPts val="400"/>
              </a:spcBef>
              <a:buNone/>
            </a:pPr>
            <a:r>
              <a:rPr lang="en-US" sz="1400" dirty="0">
                <a:solidFill>
                  <a:srgbClr val="3C3C3C"/>
                </a:solidFill>
              </a:rPr>
              <a:t>inputSchema ist gewöhnliches JSON Schema. Der Host reicht Name, Description und Schema im nativen Function-Calling-Format an das Model weiter; das Model sieht MCP selbst nie.</a:t>
            </a:r>
          </a:p>
        </p:txBody>
      </p:sp>
    </p:spTree>
    <p:extLst>
      <p:ext uri="{BB962C8B-B14F-4D97-AF65-F5344CB8AC3E}">
        <p14:creationId xmlns:p14="http://schemas.microsoft.com/office/powerpoint/2010/main" val="2986761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DDC70-EDD3-97EB-D393-02E5ED3B2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/>
          <a:lstStyle/>
          <a:p>
            <a:r>
              <a:rPr lang="de-DE" sz="3000" b="1" dirty="0">
                <a:solidFill>
                  <a:srgbClr val="B1063A"/>
                </a:solidFill>
              </a:rPr>
              <a:t>Backup </a:t>
            </a:r>
            <a:r>
              <a:rPr lang="en-US" sz="3000" dirty="0">
                <a:solidFill>
                  <a:srgbClr val="B1063A"/>
                </a:solidFill>
              </a:rPr>
              <a:t>· </a:t>
            </a:r>
            <a:r>
              <a:rPr lang="de-DE" sz="3000" b="1" dirty="0">
                <a:solidFill>
                  <a:srgbClr val="B1063A"/>
                </a:solidFill>
              </a:rPr>
              <a:t>Unter der Haube: MCP spricht JSON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91440" rIns="91440" bIns="91440" anchor="t"/>
          <a:lstStyle/>
          <a:p>
            <a:endParaRPr/>
          </a:p>
        </p:txBody>
      </p:sp>
      <p:sp>
        <p:nvSpPr>
          <p:cNvPr id="101" name="Intro"/>
          <p:cNvSpPr txBox="1"/>
          <p:nvPr/>
        </p:nvSpPr>
        <p:spPr>
          <a:xfrm>
            <a:off x="762000" y="1371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>
              <a:buNone/>
            </a:pPr>
            <a:r>
              <a:rPr lang="de-DE" sz="1600" dirty="0">
                <a:solidFill>
                  <a:srgbClr val="3C3C3C"/>
                </a:solidFill>
              </a:rPr>
              <a:t>Jede Nachricht zwischen Client und Server ist ein </a:t>
            </a:r>
            <a:r>
              <a:rPr lang="de-DE" sz="1600" b="1" dirty="0">
                <a:solidFill>
                  <a:srgbClr val="1A1A1A"/>
                </a:solidFill>
              </a:rPr>
              <a:t>JSON-Objekt</a:t>
            </a:r>
            <a:r>
              <a:rPr lang="de-DE" sz="1600" dirty="0">
                <a:solidFill>
                  <a:srgbClr val="3C3C3C"/>
                </a:solidFill>
              </a:rPr>
              <a:t> (Standard: </a:t>
            </a:r>
            <a:r>
              <a:rPr lang="de-DE" sz="1600" b="1" dirty="0">
                <a:solidFill>
                  <a:srgbClr val="1A1A1A"/>
                </a:solidFill>
              </a:rPr>
              <a:t>JSON-RPC 2.0</a:t>
            </a:r>
            <a:r>
              <a:rPr lang="de-DE" sz="1600" dirty="0">
                <a:solidFill>
                  <a:srgbClr val="3C3C3C"/>
                </a:solidFill>
              </a:rPr>
              <a:t>).</a:t>
            </a:r>
          </a:p>
        </p:txBody>
      </p:sp>
      <p:sp>
        <p:nvSpPr>
          <p:cNvPr id="102" name="Code"/>
          <p:cNvSpPr txBox="1"/>
          <p:nvPr/>
        </p:nvSpPr>
        <p:spPr>
          <a:xfrm>
            <a:off x="762000" y="1828800"/>
            <a:ext cx="6934200" cy="33528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182880" tIns="182880" rIns="182880" bIns="182880" anchor="ctr"/>
          <a:lstStyle/>
          <a:p>
            <a:pPr>
              <a:lnSpc>
                <a:spcPct val="100000"/>
              </a:lnSpc>
              <a:buNone/>
            </a:pPr>
            <a:r>
              <a:rPr lang="de-DE" sz="1200" dirty="0">
                <a:solidFill>
                  <a:srgbClr val="1A1A1A"/>
                </a:solidFill>
                <a:latin typeface="Consolas"/>
                <a:cs typeface="Consolas"/>
              </a:rPr>
              <a:t>→ { "method": "tools/list" }</a:t>
            </a:r>
            <a:r>
              <a:rPr lang="de-DE" sz="1200" dirty="0">
                <a:solidFill>
                  <a:srgbClr val="6E6E6E"/>
                </a:solidFill>
                <a:latin typeface="Consolas"/>
                <a:cs typeface="Consolas"/>
              </a:rPr>
              <a:t>   // Was kannst du?</a:t>
            </a:r>
          </a:p>
          <a:p>
            <a:pPr>
              <a:lnSpc>
                <a:spcPct val="100000"/>
              </a:lnSpc>
              <a:buNone/>
            </a:pPr>
            <a:r>
              <a:rPr lang="de-DE" sz="1200" dirty="0">
                <a:solidFill>
                  <a:srgbClr val="1A1A1A"/>
                </a:solidFill>
                <a:latin typeface="Consolas"/>
                <a:cs typeface="Consolas"/>
              </a:rPr>
              <a:t>← { "tools": [ { "name": "get_local_weather",</a:t>
            </a:r>
          </a:p>
          <a:p>
            <a:pPr>
              <a:lnSpc>
                <a:spcPct val="100000"/>
              </a:lnSpc>
              <a:buNone/>
            </a:pPr>
            <a:r>
              <a:rPr lang="de-DE" sz="1200" dirty="0">
                <a:solidFill>
                  <a:srgbClr val="1A1A1A"/>
                </a:solidFill>
                <a:latin typeface="Consolas"/>
                <a:cs typeface="Consolas"/>
              </a:rPr>
              <a:t>      "description": "Wettervorhersage für eine Stadt …",</a:t>
            </a:r>
          </a:p>
          <a:p>
            <a:pPr>
              <a:lnSpc>
                <a:spcPct val="100000"/>
              </a:lnSpc>
              <a:buNone/>
            </a:pPr>
            <a:r>
              <a:rPr lang="de-DE" sz="1200" dirty="0">
                <a:solidFill>
                  <a:srgbClr val="1A1A1A"/>
                </a:solidFill>
                <a:latin typeface="Consolas"/>
                <a:cs typeface="Consolas"/>
              </a:rPr>
              <a:t>      "inputSchema": { "city": "string", "date": "string" } } ] }</a:t>
            </a:r>
          </a:p>
          <a:p>
            <a:pPr>
              <a:lnSpc>
                <a:spcPct val="100000"/>
              </a:lnSpc>
              <a:buNone/>
            </a:pPr>
            <a:endParaRPr lang="de-DE" sz="1200"/>
          </a:p>
          <a:p>
            <a:pPr>
              <a:lnSpc>
                <a:spcPct val="100000"/>
              </a:lnSpc>
              <a:buNone/>
            </a:pPr>
            <a:r>
              <a:rPr lang="de-DE" sz="1200" dirty="0">
                <a:solidFill>
                  <a:srgbClr val="1A1A1A"/>
                </a:solidFill>
                <a:latin typeface="Consolas"/>
                <a:cs typeface="Consolas"/>
              </a:rPr>
              <a:t>→ { "method": "tools/call",</a:t>
            </a:r>
            <a:r>
              <a:rPr lang="de-DE" sz="1200" dirty="0">
                <a:solidFill>
                  <a:srgbClr val="6E6E6E"/>
                </a:solidFill>
                <a:latin typeface="Consolas"/>
                <a:cs typeface="Consolas"/>
              </a:rPr>
              <a:t>   // Bitte ausführen</a:t>
            </a:r>
          </a:p>
          <a:p>
            <a:pPr>
              <a:lnSpc>
                <a:spcPct val="100000"/>
              </a:lnSpc>
              <a:buNone/>
            </a:pPr>
            <a:r>
              <a:rPr lang="de-DE" sz="1200" dirty="0">
                <a:solidFill>
                  <a:srgbClr val="1A1A1A"/>
                </a:solidFill>
                <a:latin typeface="Consolas"/>
                <a:cs typeface="Consolas"/>
              </a:rPr>
              <a:t>    "params": { "name": "get_local_weather",</a:t>
            </a:r>
          </a:p>
          <a:p>
            <a:pPr>
              <a:lnSpc>
                <a:spcPct val="100000"/>
              </a:lnSpc>
              <a:buNone/>
            </a:pPr>
            <a:r>
              <a:rPr lang="de-DE" sz="1200" dirty="0">
                <a:solidFill>
                  <a:srgbClr val="1A1A1A"/>
                </a:solidFill>
                <a:latin typeface="Consolas"/>
                <a:cs typeface="Consolas"/>
              </a:rPr>
              <a:t>      "arguments": { "city": "Berlin", "date": "2026-09-09" } } }</a:t>
            </a:r>
          </a:p>
          <a:p>
            <a:pPr>
              <a:lnSpc>
                <a:spcPct val="100000"/>
              </a:lnSpc>
              <a:buNone/>
            </a:pPr>
            <a:r>
              <a:rPr lang="de-DE" sz="1200" dirty="0">
                <a:solidFill>
                  <a:srgbClr val="1A1A1A"/>
                </a:solidFill>
                <a:latin typeface="Consolas"/>
                <a:cs typeface="Consolas"/>
              </a:rPr>
              <a:t>← { "content": [ { "type": "text",</a:t>
            </a:r>
          </a:p>
          <a:p>
            <a:pPr>
              <a:lnSpc>
                <a:spcPct val="100000"/>
              </a:lnSpc>
              <a:buNone/>
            </a:pPr>
            <a:r>
              <a:rPr lang="de-DE" sz="1200" dirty="0">
                <a:solidFill>
                  <a:srgbClr val="1A1A1A"/>
                </a:solidFill>
                <a:latin typeface="Consolas"/>
                <a:cs typeface="Consolas"/>
              </a:rPr>
              <a:t>      "text": "Berlin, 9. Sept: 19 °C, leichter Regen" } ] }</a:t>
            </a:r>
          </a:p>
        </p:txBody>
      </p:sp>
      <p:sp>
        <p:nvSpPr>
          <p:cNvPr id="103" name="Bullets"/>
          <p:cNvSpPr txBox="1"/>
          <p:nvPr/>
        </p:nvSpPr>
        <p:spPr>
          <a:xfrm>
            <a:off x="7924800" y="1828800"/>
            <a:ext cx="3505200" cy="335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228600" indent="-228600">
              <a:buClr>
                <a:srgbClr val="B1063A"/>
              </a:buClr>
              <a:buFont typeface="Arial"/>
              <a:buChar char="•"/>
            </a:pPr>
            <a:r>
              <a:rPr lang="de-DE" sz="1500" b="1" dirty="0">
                <a:solidFill>
                  <a:srgbClr val="1A1A1A"/>
                </a:solidFill>
              </a:rPr>
              <a:t>Sprachunabhängig</a:t>
            </a:r>
            <a:r>
              <a:rPr lang="de-DE" sz="1500" dirty="0">
                <a:solidFill>
                  <a:srgbClr val="3C3C3C"/>
                </a:solidFill>
              </a:rPr>
              <a:t> – jeder Client spricht mit jedem Server (Python, TypeScript, Go …)</a:t>
            </a:r>
          </a:p>
          <a:p>
            <a:pPr marL="228600" indent="-228600">
              <a:spcBef>
                <a:spcPts val="900"/>
              </a:spcBef>
              <a:buClr>
                <a:srgbClr val="B1063A"/>
              </a:buClr>
              <a:buFont typeface="Arial"/>
              <a:buChar char="•"/>
            </a:pPr>
            <a:r>
              <a:rPr lang="de-DE" sz="1500" b="1" dirty="0">
                <a:solidFill>
                  <a:srgbClr val="1A1A1A"/>
                </a:solidFill>
              </a:rPr>
              <a:t>Strukturiert &amp; prüfbar</a:t>
            </a:r>
            <a:r>
              <a:rPr lang="de-DE" sz="1500" dirty="0">
                <a:solidFill>
                  <a:srgbClr val="3C3C3C"/>
                </a:solidFill>
              </a:rPr>
              <a:t> – Parameter sind per JSON Schema typisiert, das Model erzeugt gültige Aufrufe</a:t>
            </a:r>
          </a:p>
          <a:p>
            <a:pPr marL="228600" indent="-228600">
              <a:spcBef>
                <a:spcPts val="900"/>
              </a:spcBef>
              <a:buClr>
                <a:srgbClr val="B1063A"/>
              </a:buClr>
              <a:buFont typeface="Arial"/>
              <a:buChar char="•"/>
            </a:pPr>
            <a:r>
              <a:rPr lang="de-DE" sz="1500" b="1" dirty="0">
                <a:solidFill>
                  <a:srgbClr val="1A1A1A"/>
                </a:solidFill>
              </a:rPr>
              <a:t>Passt zum Function Calling</a:t>
            </a:r>
            <a:r>
              <a:rPr lang="de-DE" sz="1500" dirty="0">
                <a:solidFill>
                  <a:srgbClr val="3C3C3C"/>
                </a:solidFill>
              </a:rPr>
              <a:t> – LLMs sprechen ohnehin JSON Schema, also 1:1-Abbildung</a:t>
            </a:r>
          </a:p>
          <a:p>
            <a:pPr marL="228600" indent="-228600">
              <a:spcBef>
                <a:spcPts val="900"/>
              </a:spcBef>
              <a:buClr>
                <a:srgbClr val="B1063A"/>
              </a:buClr>
              <a:buFont typeface="Arial"/>
              <a:buChar char="•"/>
            </a:pPr>
            <a:r>
              <a:rPr lang="de-DE" sz="1500" b="1" dirty="0">
                <a:solidFill>
                  <a:srgbClr val="1A1A1A"/>
                </a:solidFill>
              </a:rPr>
              <a:t>Menschenlesbar</a:t>
            </a:r>
            <a:r>
              <a:rPr lang="de-DE" sz="1500" dirty="0">
                <a:solidFill>
                  <a:srgbClr val="3C3C3C"/>
                </a:solidFill>
              </a:rPr>
              <a:t> – im MCP Inspector direkt nachvollziehbar</a:t>
            </a:r>
          </a:p>
        </p:txBody>
      </p:sp>
      <p:sp>
        <p:nvSpPr>
          <p:cNvPr id="104" name="Takeaway"/>
          <p:cNvSpPr txBox="1"/>
          <p:nvPr/>
        </p:nvSpPr>
        <p:spPr>
          <a:xfrm>
            <a:off x="762000" y="5410200"/>
            <a:ext cx="10668000" cy="762000"/>
          </a:xfrm>
          <a:prstGeom prst="roundRect">
            <a:avLst/>
          </a:prstGeom>
          <a:solidFill>
            <a:srgbClr val="B1063A"/>
          </a:solidFill>
          <a:ln>
            <a:noFill/>
          </a:ln>
        </p:spPr>
        <p:txBody>
          <a:bodyPr wrap="square" lIns="320040" tIns="320040" rIns="320040" bIns="320040" anchor="ctr"/>
          <a:lstStyle/>
          <a:p>
            <a:pPr>
              <a:buNone/>
            </a:pPr>
            <a:r>
              <a:rPr lang="de-DE" sz="1600" b="1" dirty="0">
                <a:solidFill>
                  <a:srgbClr val="FFFFFF"/>
                </a:solidFill>
              </a:rPr>
              <a:t>Das Model schreibt kein JSON-RPC – der Host übersetzt zwischen Model-Aufruf und Protokoll.</a:t>
            </a:r>
          </a:p>
        </p:txBody>
      </p:sp>
    </p:spTree>
    <p:extLst>
      <p:ext uri="{BB962C8B-B14F-4D97-AF65-F5344CB8AC3E}">
        <p14:creationId xmlns:p14="http://schemas.microsoft.com/office/powerpoint/2010/main" val="4091958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8530632532]">
  <a:themeElements>
    <a:clrScheme name="Office">
      <a:dk1>
        <a:srgbClr val="1A1A1A"/>
      </a:dk1>
      <a:lt1>
        <a:srgbClr val="FFFFFF"/>
      </a:lt1>
      <a:dk2>
        <a:srgbClr val="3C3C3C"/>
      </a:dk2>
      <a:lt2>
        <a:srgbClr val="F2F2F2"/>
      </a:lt2>
      <a:accent1>
        <a:srgbClr val="B1063A"/>
      </a:accent1>
      <a:accent2>
        <a:srgbClr val="1F5FA9"/>
      </a:accent2>
      <a:accent3>
        <a:srgbClr val="6E6E6E"/>
      </a:accent3>
      <a:accent4>
        <a:srgbClr val="BFBFBF"/>
      </a:accent4>
      <a:accent5>
        <a:srgbClr val="E8E8E8"/>
      </a:accent5>
      <a:accent6>
        <a:srgbClr val="8A8A8A"/>
      </a:accent6>
      <a:hlink>
        <a:srgbClr val="467886"/>
      </a:hlink>
      <a:folHlink>
        <a:srgbClr val="96607D"/>
      </a:folHlink>
    </a:clrScheme>
    <a:fontScheme name="Office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2D8F2A6-D286-1C49-8309-19885376F1E0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202bd851-0da3-4819-b52c-de43b67065a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1754</Words>
  <Application>Microsoft Macintosh PowerPoint</Application>
  <PresentationFormat>Widescreen</PresentationFormat>
  <Paragraphs>256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Consolas</vt:lpstr>
      <vt:lpstr>Wingdings</vt:lpstr>
      <vt:lpstr>Office Theme [1788530632532]</vt:lpstr>
      <vt:lpstr>Welche Tools darf Ihr KI-Agent nutzen?</vt:lpstr>
      <vt:lpstr>Was ist ein Agent?</vt:lpstr>
      <vt:lpstr>Drei Sorten von “AI Agents” (LLM) </vt:lpstr>
      <vt:lpstr>Beispiel: Email KI-Assistent</vt:lpstr>
      <vt:lpstr>Model Context Protocol (MCP)</vt:lpstr>
      <vt:lpstr>Wie MCP funktioniert</vt:lpstr>
      <vt:lpstr>Wie wählt das Model ein tool aus?</vt:lpstr>
      <vt:lpstr>Sicherheit: Wem vertrauen Sie?</vt:lpstr>
      <vt:lpstr>Was kann passieren?</vt:lpstr>
      <vt:lpstr>Risiken begrenzen</vt:lpstr>
      <vt:lpstr>Prüf-Checkliste für MCP-Sicherheit</vt:lpstr>
      <vt:lpstr>Wie finde ich einen MCP Server?</vt:lpstr>
      <vt:lpstr>Demo: Connect Claude with Gmail and Google Calendar</vt:lpstr>
      <vt:lpstr>Demo · Schritt 1: Server finden und bewerten</vt:lpstr>
      <vt:lpstr>Demo · Schritt 2: Mit Least Privilege verbinden</vt:lpstr>
      <vt:lpstr>Demo · Schritt 3: Testen</vt:lpstr>
      <vt:lpstr>Jetzt Sie: Entwerfen Sie Ihren eigenen agentischen Workflow</vt:lpstr>
      <vt:lpstr>PowerPoint Presentation</vt:lpstr>
      <vt:lpstr>Backup · Ist das nicht einfach nur eine weitere API?</vt:lpstr>
      <vt:lpstr>Backup · Was tatsächlich über die Leitung geht</vt:lpstr>
      <vt:lpstr>Backup · Unter der Haube: MCP spricht JSON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Goll, David</dc:creator>
  <cp:lastModifiedBy>Goll, David</cp:lastModifiedBy>
  <cp:revision>14</cp:revision>
  <cp:lastPrinted>2026-09-04T14:44:01Z</cp:lastPrinted>
  <dcterms:created xsi:type="dcterms:W3CDTF">2026-09-04T14:00:10Z</dcterms:created>
  <dcterms:modified xsi:type="dcterms:W3CDTF">2026-09-07T10:08:27Z</dcterms:modified>
</cp:coreProperties>
</file>